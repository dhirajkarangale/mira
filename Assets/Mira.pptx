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61" r:id="rId2"/>
    <p:sldId id="263" r:id="rId3"/>
    <p:sldId id="266" r:id="rId4"/>
    <p:sldId id="267" r:id="rId5"/>
    <p:sldId id="273" r:id="rId6"/>
    <p:sldId id="276" r:id="rId7"/>
    <p:sldId id="27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3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46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8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99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915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66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03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5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6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65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25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AD64B-F86C-495A-A655-85BAAA840F7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95A2A-3ECE-4EC2-982B-4229DF5BC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38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irajKarangale/Mi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vLdis3GiZoc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irajKarangale/Mira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vLdis3GiZo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C82592-82B7-4B02-C331-4A0CF21CF50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E6A1D-8D2C-79B3-4CA9-ED6902BE0980}"/>
              </a:ext>
            </a:extLst>
          </p:cNvPr>
          <p:cNvSpPr txBox="1"/>
          <p:nvPr/>
        </p:nvSpPr>
        <p:spPr>
          <a:xfrm>
            <a:off x="609600" y="444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B80F9-58C4-C993-7298-507BADF05A6F}"/>
              </a:ext>
            </a:extLst>
          </p:cNvPr>
          <p:cNvSpPr txBox="1"/>
          <p:nvPr/>
        </p:nvSpPr>
        <p:spPr>
          <a:xfrm>
            <a:off x="609600" y="12065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4800" b="1">
                <a:solidFill>
                  <a:srgbClr val="11234B"/>
                </a:solidFill>
                <a:latin typeface="Aptos" panose="020B0004020202020204" pitchFamily="34" charset="0"/>
              </a:rPr>
              <a:t>MIRA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19F64-947B-E922-137E-B46BCC63FE05}"/>
              </a:ext>
            </a:extLst>
          </p:cNvPr>
          <p:cNvSpPr txBox="1"/>
          <p:nvPr/>
        </p:nvSpPr>
        <p:spPr>
          <a:xfrm>
            <a:off x="635000" y="2197100"/>
            <a:ext cx="622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700" b="1">
                <a:solidFill>
                  <a:srgbClr val="2364EB"/>
                </a:solidFill>
                <a:latin typeface="Aptos" panose="020B0004020202020204" pitchFamily="34" charset="0"/>
              </a:rPr>
              <a:t>Memory, Intelligence, Recall,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73D5E-0AEE-5ADB-6465-5EA9D384D605}"/>
              </a:ext>
            </a:extLst>
          </p:cNvPr>
          <p:cNvSpPr txBox="1"/>
          <p:nvPr/>
        </p:nvSpPr>
        <p:spPr>
          <a:xfrm>
            <a:off x="635000" y="26797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>
                <a:solidFill>
                  <a:srgbClr val="5B6C86"/>
                </a:solidFill>
                <a:latin typeface="Aptos" panose="020B0004020202020204" pitchFamily="34" charset="0"/>
              </a:rPr>
              <a:t>Your Personal Knowledge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22056-C42B-04D5-141D-A7E4C714A7E4}"/>
              </a:ext>
            </a:extLst>
          </p:cNvPr>
          <p:cNvSpPr/>
          <p:nvPr/>
        </p:nvSpPr>
        <p:spPr>
          <a:xfrm>
            <a:off x="635000" y="3263900"/>
            <a:ext cx="990600" cy="508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B00DB-0148-03BF-9882-93BFAC8E5C32}"/>
              </a:ext>
            </a:extLst>
          </p:cNvPr>
          <p:cNvSpPr txBox="1"/>
          <p:nvPr/>
        </p:nvSpPr>
        <p:spPr>
          <a:xfrm>
            <a:off x="635000" y="3632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5A18CF-B217-4691-6E87-24C949A78326}"/>
              </a:ext>
            </a:extLst>
          </p:cNvPr>
          <p:cNvSpPr txBox="1"/>
          <p:nvPr/>
        </p:nvSpPr>
        <p:spPr>
          <a:xfrm>
            <a:off x="635000" y="3937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300" b="1">
                <a:solidFill>
                  <a:srgbClr val="11234B"/>
                </a:solidFill>
                <a:latin typeface="Aptos" panose="020B0004020202020204" pitchFamily="34" charset="0"/>
              </a:rPr>
              <a:t>DCoders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8B428-D09E-E201-F078-37D333C882A2}"/>
              </a:ext>
            </a:extLst>
          </p:cNvPr>
          <p:cNvSpPr txBox="1"/>
          <p:nvPr/>
        </p:nvSpPr>
        <p:spPr>
          <a:xfrm>
            <a:off x="635000" y="4508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5B6C86"/>
                </a:solidFill>
                <a:latin typeface="Aptos" panose="020B0004020202020204" pitchFamily="34" charset="0"/>
              </a:rPr>
              <a:t>Dhiraj Karangale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EBB17E-5EA3-4D6F-32C0-B7FF0F5654A9}"/>
              </a:ext>
            </a:extLst>
          </p:cNvPr>
          <p:cNvSpPr txBox="1"/>
          <p:nvPr/>
        </p:nvSpPr>
        <p:spPr>
          <a:xfrm>
            <a:off x="635000" y="482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>
                <a:solidFill>
                  <a:srgbClr val="5B6C86"/>
                </a:solidFill>
                <a:latin typeface="Aptos" panose="020B0004020202020204" pitchFamily="34" charset="0"/>
              </a:rPr>
              <a:t>Vedang Joshi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F48C9B-13B6-C7D7-8408-B360E5742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0" y="1333500"/>
            <a:ext cx="4000500" cy="4000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ADE717-F8C8-0C02-F9C4-68DF66FEE4B5}"/>
              </a:ext>
            </a:extLst>
          </p:cNvPr>
          <p:cNvSpPr/>
          <p:nvPr/>
        </p:nvSpPr>
        <p:spPr>
          <a:xfrm>
            <a:off x="609600" y="5232400"/>
            <a:ext cx="10972800" cy="109220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DCE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C36EEC-E40F-7BA3-225A-4BD869E98924}"/>
              </a:ext>
            </a:extLst>
          </p:cNvPr>
          <p:cNvSpPr txBox="1"/>
          <p:nvPr/>
        </p:nvSpPr>
        <p:spPr>
          <a:xfrm>
            <a:off x="762000" y="5410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5B6C86"/>
                </a:solidFill>
                <a:latin typeface="Aptos" panose="020B0004020202020204" pitchFamily="34" charset="0"/>
              </a:rPr>
              <a:t>GITHUB REPOSITORY</a:t>
            </a:r>
          </a:p>
        </p:txBody>
      </p:sp>
      <p:sp>
        <p:nvSpPr>
          <p:cNvPr id="16" name="TextBox 15">
            <a:hlinkClick r:id="rId3"/>
            <a:extLst>
              <a:ext uri="{FF2B5EF4-FFF2-40B4-BE49-F238E27FC236}">
                <a16:creationId xmlns:a16="http://schemas.microsoft.com/office/drawing/2014/main" id="{1DD86560-F1D4-FF6B-CD87-5C7CE222ABF8}"/>
              </a:ext>
            </a:extLst>
          </p:cNvPr>
          <p:cNvSpPr txBox="1"/>
          <p:nvPr/>
        </p:nvSpPr>
        <p:spPr>
          <a:xfrm>
            <a:off x="762000" y="57150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2364EB"/>
                </a:solidFill>
                <a:latin typeface="Aptos" panose="020B0004020202020204" pitchFamily="34" charset="0"/>
              </a:rPr>
              <a:t>View Source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EADACF-6850-96B3-9F57-F57550747CB2}"/>
              </a:ext>
            </a:extLst>
          </p:cNvPr>
          <p:cNvSpPr txBox="1"/>
          <p:nvPr/>
        </p:nvSpPr>
        <p:spPr>
          <a:xfrm>
            <a:off x="6324600" y="54102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5B6C86"/>
                </a:solidFill>
                <a:latin typeface="Aptos" panose="020B0004020202020204" pitchFamily="34" charset="0"/>
              </a:rPr>
              <a:t>PROJECT DEMO</a:t>
            </a:r>
          </a:p>
        </p:txBody>
      </p:sp>
      <p:sp>
        <p:nvSpPr>
          <p:cNvPr id="18" name="TextBox 17">
            <a:hlinkClick r:id="rId4"/>
            <a:extLst>
              <a:ext uri="{FF2B5EF4-FFF2-40B4-BE49-F238E27FC236}">
                <a16:creationId xmlns:a16="http://schemas.microsoft.com/office/drawing/2014/main" id="{CD049220-25DD-DE9D-555B-F733C0915EFD}"/>
              </a:ext>
            </a:extLst>
          </p:cNvPr>
          <p:cNvSpPr txBox="1"/>
          <p:nvPr/>
        </p:nvSpPr>
        <p:spPr>
          <a:xfrm>
            <a:off x="6324600" y="5715000"/>
            <a:ext cx="5105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2364EB"/>
                </a:solidFill>
                <a:latin typeface="Aptos" panose="020B0004020202020204" pitchFamily="34" charset="0"/>
              </a:rPr>
              <a:t>Watch Demo on YouTube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E06ED-B714-369C-CED2-03390DE6F5E8}"/>
              </a:ext>
            </a:extLst>
          </p:cNvPr>
          <p:cNvSpPr txBox="1"/>
          <p:nvPr/>
        </p:nvSpPr>
        <p:spPr>
          <a:xfrm>
            <a:off x="609600" y="65024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5B6C86"/>
                </a:solidFill>
                <a:latin typeface="Aptos" panose="020B0004020202020204" pitchFamily="34" charset="0"/>
              </a:rPr>
              <a:t>DCoders  |  MIRA</a:t>
            </a:r>
          </a:p>
        </p:txBody>
      </p:sp>
    </p:spTree>
    <p:extLst>
      <p:ext uri="{BB962C8B-B14F-4D97-AF65-F5344CB8AC3E}">
        <p14:creationId xmlns:p14="http://schemas.microsoft.com/office/powerpoint/2010/main" val="384360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9BD372-2659-2716-6C74-B3B4221531F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8D959-4881-B42A-4F01-E4992B48FA1F}"/>
              </a:ext>
            </a:extLst>
          </p:cNvPr>
          <p:cNvSpPr txBox="1"/>
          <p:nvPr/>
        </p:nvSpPr>
        <p:spPr>
          <a:xfrm>
            <a:off x="609600" y="406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48CCF-E59F-B488-2810-F6167A85A0F8}"/>
              </a:ext>
            </a:extLst>
          </p:cNvPr>
          <p:cNvSpPr txBox="1"/>
          <p:nvPr/>
        </p:nvSpPr>
        <p:spPr>
          <a:xfrm>
            <a:off x="609600" y="838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900" b="1">
                <a:solidFill>
                  <a:srgbClr val="11234B"/>
                </a:solidFill>
                <a:latin typeface="Aptos" panose="020B0004020202020204" pitchFamily="34" charset="0"/>
              </a:rPr>
              <a:t>Your Digital Life Has No Memory</a:t>
            </a:r>
            <a:endParaRPr lang="en-IN" sz="2900" b="1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1AF16-161A-0EFE-AC1C-B0FEDE2F19FF}"/>
              </a:ext>
            </a:extLst>
          </p:cNvPr>
          <p:cNvSpPr txBox="1"/>
          <p:nvPr/>
        </p:nvSpPr>
        <p:spPr>
          <a:xfrm>
            <a:off x="609600" y="1511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B6C86"/>
                </a:solidFill>
                <a:latin typeface="Aptos" panose="020B0004020202020204" pitchFamily="34" charset="0"/>
              </a:rPr>
              <a:t>Everyday information is everywhere, but useful context is missing.</a:t>
            </a:r>
            <a:endParaRPr lang="en-IN" sz="14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D6A04A-84C4-7359-8E26-6BC98398A9A2}"/>
              </a:ext>
            </a:extLst>
          </p:cNvPr>
          <p:cNvSpPr/>
          <p:nvPr/>
        </p:nvSpPr>
        <p:spPr>
          <a:xfrm>
            <a:off x="609600" y="2159000"/>
            <a:ext cx="3505200" cy="167640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E1E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02ADE7-78E0-23EE-A227-29B577DE7E5B}"/>
              </a:ext>
            </a:extLst>
          </p:cNvPr>
          <p:cNvSpPr/>
          <p:nvPr/>
        </p:nvSpPr>
        <p:spPr>
          <a:xfrm>
            <a:off x="812800" y="2349500"/>
            <a:ext cx="482600" cy="381000"/>
          </a:xfrm>
          <a:prstGeom prst="roundRect">
            <a:avLst/>
          </a:prstGeom>
          <a:solidFill>
            <a:srgbClr val="E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2364E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BB8B4-784E-9E82-4FC6-003AEB6CA5F4}"/>
              </a:ext>
            </a:extLst>
          </p:cNvPr>
          <p:cNvSpPr txBox="1"/>
          <p:nvPr/>
        </p:nvSpPr>
        <p:spPr>
          <a:xfrm>
            <a:off x="812800" y="28321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11234B"/>
                </a:solidFill>
                <a:latin typeface="Aptos" panose="020B0004020202020204" pitchFamily="34" charset="0"/>
              </a:rPr>
              <a:t>Lost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E40BB-E180-D2CB-DE9F-E16C9B6212BF}"/>
              </a:ext>
            </a:extLst>
          </p:cNvPr>
          <p:cNvSpPr txBox="1"/>
          <p:nvPr/>
        </p:nvSpPr>
        <p:spPr>
          <a:xfrm>
            <a:off x="812800" y="320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Notes, files and useful details get scattered across apps.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82FDCA-80FB-C7DA-8F49-67BAC240703C}"/>
              </a:ext>
            </a:extLst>
          </p:cNvPr>
          <p:cNvSpPr/>
          <p:nvPr/>
        </p:nvSpPr>
        <p:spPr>
          <a:xfrm>
            <a:off x="4343400" y="2159000"/>
            <a:ext cx="3505200" cy="167640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E1E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8B1AA2-90A3-E0B1-88B7-BAFA9CACC1D2}"/>
              </a:ext>
            </a:extLst>
          </p:cNvPr>
          <p:cNvSpPr/>
          <p:nvPr/>
        </p:nvSpPr>
        <p:spPr>
          <a:xfrm>
            <a:off x="4546600" y="2349500"/>
            <a:ext cx="482600" cy="381000"/>
          </a:xfrm>
          <a:prstGeom prst="roundRect">
            <a:avLst/>
          </a:prstGeom>
          <a:solidFill>
            <a:srgbClr val="E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2364E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BB7BA-9ECB-3F30-E672-534CD56AB240}"/>
              </a:ext>
            </a:extLst>
          </p:cNvPr>
          <p:cNvSpPr txBox="1"/>
          <p:nvPr/>
        </p:nvSpPr>
        <p:spPr>
          <a:xfrm>
            <a:off x="4546600" y="28321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11234B"/>
                </a:solidFill>
                <a:latin typeface="Aptos" panose="020B0004020202020204" pitchFamily="34" charset="0"/>
              </a:rPr>
              <a:t>Repeating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1B0E5F-3423-7B28-B8FB-EA8806EE69F4}"/>
              </a:ext>
            </a:extLst>
          </p:cNvPr>
          <p:cNvSpPr txBox="1"/>
          <p:nvPr/>
        </p:nvSpPr>
        <p:spPr>
          <a:xfrm>
            <a:off x="4546600" y="320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Users repeatedly explain their projects and preferences to AI.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DE8501-9ED8-6A52-D034-AC4CE9CFED04}"/>
              </a:ext>
            </a:extLst>
          </p:cNvPr>
          <p:cNvSpPr/>
          <p:nvPr/>
        </p:nvSpPr>
        <p:spPr>
          <a:xfrm>
            <a:off x="8077200" y="2159000"/>
            <a:ext cx="3505200" cy="167640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E1E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D6EC6C-93FA-533B-1064-B1D0A4654AF3}"/>
              </a:ext>
            </a:extLst>
          </p:cNvPr>
          <p:cNvSpPr/>
          <p:nvPr/>
        </p:nvSpPr>
        <p:spPr>
          <a:xfrm>
            <a:off x="8280400" y="2349500"/>
            <a:ext cx="482600" cy="381000"/>
          </a:xfrm>
          <a:prstGeom prst="roundRect">
            <a:avLst/>
          </a:prstGeom>
          <a:solidFill>
            <a:srgbClr val="E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2364E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836E9-07D9-BBE9-0131-90CBA9B9A4C5}"/>
              </a:ext>
            </a:extLst>
          </p:cNvPr>
          <p:cNvSpPr txBox="1"/>
          <p:nvPr/>
        </p:nvSpPr>
        <p:spPr>
          <a:xfrm>
            <a:off x="8280400" y="28321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11234B"/>
                </a:solidFill>
                <a:latin typeface="Aptos" panose="020B0004020202020204" pitchFamily="34" charset="0"/>
              </a:rPr>
              <a:t>Fragmented Digital Life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DB64D-14C2-1D2E-EF1B-CF54B4FEA731}"/>
              </a:ext>
            </a:extLst>
          </p:cNvPr>
          <p:cNvSpPr txBox="1"/>
          <p:nvPr/>
        </p:nvSpPr>
        <p:spPr>
          <a:xfrm>
            <a:off x="8280400" y="3200400"/>
            <a:ext cx="309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Work, browsing and conversations remain disconnected.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F79BC5-C6E9-D7A7-20C6-725C497B2E03}"/>
              </a:ext>
            </a:extLst>
          </p:cNvPr>
          <p:cNvSpPr/>
          <p:nvPr/>
        </p:nvSpPr>
        <p:spPr>
          <a:xfrm>
            <a:off x="609600" y="4089400"/>
            <a:ext cx="5372100" cy="167640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E1E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BAAB8CC-C4E6-C54C-E9E0-15A049FB11C3}"/>
              </a:ext>
            </a:extLst>
          </p:cNvPr>
          <p:cNvSpPr/>
          <p:nvPr/>
        </p:nvSpPr>
        <p:spPr>
          <a:xfrm>
            <a:off x="812800" y="4279900"/>
            <a:ext cx="482600" cy="381000"/>
          </a:xfrm>
          <a:prstGeom prst="roundRect">
            <a:avLst/>
          </a:prstGeom>
          <a:solidFill>
            <a:srgbClr val="E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2364E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8D4AFF-9AF9-D3B9-2876-38500D47F49F}"/>
              </a:ext>
            </a:extLst>
          </p:cNvPr>
          <p:cNvSpPr txBox="1"/>
          <p:nvPr/>
        </p:nvSpPr>
        <p:spPr>
          <a:xfrm>
            <a:off x="812800" y="4762500"/>
            <a:ext cx="4965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11234B"/>
                </a:solidFill>
                <a:latin typeface="Aptos" panose="020B0004020202020204" pitchFamily="34" charset="0"/>
              </a:rPr>
              <a:t>Forgotten Tasks &amp; Ideas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D3BECF-A500-867F-0DAC-E600F34A2079}"/>
              </a:ext>
            </a:extLst>
          </p:cNvPr>
          <p:cNvSpPr txBox="1"/>
          <p:nvPr/>
        </p:nvSpPr>
        <p:spPr>
          <a:xfrm>
            <a:off x="812800" y="5130800"/>
            <a:ext cx="4965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Important ideas and pending tasks are easily overlooked.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B695D0-080B-44E1-514D-30F51B590229}"/>
              </a:ext>
            </a:extLst>
          </p:cNvPr>
          <p:cNvSpPr/>
          <p:nvPr/>
        </p:nvSpPr>
        <p:spPr>
          <a:xfrm>
            <a:off x="6210300" y="4089400"/>
            <a:ext cx="5372100" cy="167640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E1E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C74AD5-724A-A9C0-9F90-0B9AF928645B}"/>
              </a:ext>
            </a:extLst>
          </p:cNvPr>
          <p:cNvSpPr/>
          <p:nvPr/>
        </p:nvSpPr>
        <p:spPr>
          <a:xfrm>
            <a:off x="6413500" y="4279900"/>
            <a:ext cx="482600" cy="381000"/>
          </a:xfrm>
          <a:prstGeom prst="roundRect">
            <a:avLst/>
          </a:prstGeom>
          <a:solidFill>
            <a:srgbClr val="E2E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2364E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6B7F43-9AFF-5C91-079F-4CDF50816DB2}"/>
              </a:ext>
            </a:extLst>
          </p:cNvPr>
          <p:cNvSpPr txBox="1"/>
          <p:nvPr/>
        </p:nvSpPr>
        <p:spPr>
          <a:xfrm>
            <a:off x="6413500" y="4762500"/>
            <a:ext cx="4965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11234B"/>
                </a:solidFill>
                <a:latin typeface="Aptos" panose="020B0004020202020204" pitchFamily="34" charset="0"/>
              </a:rPr>
              <a:t>Privacy Concerns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475306-041A-E3C0-A109-B5D7C00CF0BB}"/>
              </a:ext>
            </a:extLst>
          </p:cNvPr>
          <p:cNvSpPr txBox="1"/>
          <p:nvPr/>
        </p:nvSpPr>
        <p:spPr>
          <a:xfrm>
            <a:off x="6413500" y="5130800"/>
            <a:ext cx="4965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Users want helpful AI without exposing their entire digital history.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3BC6E2-8D90-90A1-0040-4BBB20598A8D}"/>
              </a:ext>
            </a:extLst>
          </p:cNvPr>
          <p:cNvSpPr/>
          <p:nvPr/>
        </p:nvSpPr>
        <p:spPr>
          <a:xfrm>
            <a:off x="609600" y="6134100"/>
            <a:ext cx="10972800" cy="406400"/>
          </a:xfrm>
          <a:prstGeom prst="roundRect">
            <a:avLst/>
          </a:prstGeom>
          <a:solidFill>
            <a:srgbClr val="EBF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0144FC-2F62-9CF4-DD02-126170B4F676}"/>
              </a:ext>
            </a:extLst>
          </p:cNvPr>
          <p:cNvSpPr txBox="1"/>
          <p:nvPr/>
        </p:nvSpPr>
        <p:spPr>
          <a:xfrm>
            <a:off x="787400" y="6223000"/>
            <a:ext cx="1061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1234B"/>
                </a:solidFill>
                <a:latin typeface="Aptos" panose="020B0004020202020204" pitchFamily="34" charset="0"/>
              </a:rPr>
              <a:t>The result: lost time, repeated effort and disconnected context.</a:t>
            </a:r>
            <a:endParaRPr lang="en-IN" sz="1200" b="1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A5001F-A701-4984-7B07-626E94E61D3F}"/>
              </a:ext>
            </a:extLst>
          </p:cNvPr>
          <p:cNvSpPr txBox="1"/>
          <p:nvPr/>
        </p:nvSpPr>
        <p:spPr>
          <a:xfrm>
            <a:off x="609600" y="66167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5B6C86"/>
                </a:solidFill>
                <a:latin typeface="Aptos" panose="020B0004020202020204" pitchFamily="34" charset="0"/>
              </a:rPr>
              <a:t>DCoders  |  MIRA</a:t>
            </a:r>
          </a:p>
        </p:txBody>
      </p:sp>
    </p:spTree>
    <p:extLst>
      <p:ext uri="{BB962C8B-B14F-4D97-AF65-F5344CB8AC3E}">
        <p14:creationId xmlns:p14="http://schemas.microsoft.com/office/powerpoint/2010/main" val="1290530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598B84-70C2-7EDE-7A77-232FD7F7E038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87E05-82C5-54A6-F9A5-5E10F78CA5A6}"/>
              </a:ext>
            </a:extLst>
          </p:cNvPr>
          <p:cNvSpPr txBox="1"/>
          <p:nvPr/>
        </p:nvSpPr>
        <p:spPr>
          <a:xfrm>
            <a:off x="609600" y="3429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THE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BC75D-1E05-EA0F-CED3-D3B22E7EB785}"/>
              </a:ext>
            </a:extLst>
          </p:cNvPr>
          <p:cNvSpPr txBox="1"/>
          <p:nvPr/>
        </p:nvSpPr>
        <p:spPr>
          <a:xfrm>
            <a:off x="609600" y="660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800" b="1">
                <a:solidFill>
                  <a:srgbClr val="11234B"/>
                </a:solidFill>
                <a:latin typeface="Aptos" panose="020B0004020202020204" pitchFamily="34" charset="0"/>
              </a:rPr>
              <a:t>Meet MIRA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6441A-C3C5-301B-5953-A7C94F6D1778}"/>
              </a:ext>
            </a:extLst>
          </p:cNvPr>
          <p:cNvSpPr txBox="1"/>
          <p:nvPr/>
        </p:nvSpPr>
        <p:spPr>
          <a:xfrm>
            <a:off x="609600" y="12446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500" b="1">
                <a:solidFill>
                  <a:srgbClr val="2364EB"/>
                </a:solidFill>
                <a:latin typeface="Aptos" panose="020B0004020202020204" pitchFamily="34" charset="0"/>
              </a:rPr>
              <a:t>Your Personal Knowledge Assistant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3C79AF-5356-DF07-AD54-495F34F5CC72}"/>
              </a:ext>
            </a:extLst>
          </p:cNvPr>
          <p:cNvSpPr txBox="1"/>
          <p:nvPr/>
        </p:nvSpPr>
        <p:spPr>
          <a:xfrm>
            <a:off x="609600" y="16256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5B6C86"/>
                </a:solidFill>
                <a:latin typeface="Aptos" panose="020B0004020202020204" pitchFamily="34" charset="0"/>
              </a:rPr>
              <a:t>MIRA is a personal AI assistant that remembers your digital activity, retrieves relevant information, and uses that context to help you continue your work.</a:t>
            </a:r>
            <a:endParaRPr lang="en-IN" sz="1200" dirty="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1009A-20B7-8989-F332-03CC3C7106E0}"/>
              </a:ext>
            </a:extLst>
          </p:cNvPr>
          <p:cNvSpPr txBox="1"/>
          <p:nvPr/>
        </p:nvSpPr>
        <p:spPr>
          <a:xfrm>
            <a:off x="609600" y="2933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5B6C86"/>
                </a:solidFill>
                <a:latin typeface="Aptos" panose="020B0004020202020204" pitchFamily="34" charset="0"/>
              </a:rPr>
              <a:t>HOW MIRA SOLVES THE PROBLEMS</a:t>
            </a:r>
            <a:endParaRPr lang="en-IN" sz="1000" b="1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A0A3CD-E6E4-00DB-A20F-C664728015EF}"/>
              </a:ext>
            </a:extLst>
          </p:cNvPr>
          <p:cNvSpPr/>
          <p:nvPr/>
        </p:nvSpPr>
        <p:spPr>
          <a:xfrm>
            <a:off x="609600" y="3276600"/>
            <a:ext cx="3522133" cy="14224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ADCE68-E66A-70B0-457E-6B37AF29F20E}"/>
              </a:ext>
            </a:extLst>
          </p:cNvPr>
          <p:cNvSpPr/>
          <p:nvPr/>
        </p:nvSpPr>
        <p:spPr>
          <a:xfrm>
            <a:off x="800100" y="3467100"/>
            <a:ext cx="4318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33E38-630B-EC24-C700-51B3E669C826}"/>
              </a:ext>
            </a:extLst>
          </p:cNvPr>
          <p:cNvSpPr txBox="1"/>
          <p:nvPr/>
        </p:nvSpPr>
        <p:spPr>
          <a:xfrm>
            <a:off x="3636433" y="34290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A13F0-1381-7B71-F158-1A32EDF06E35}"/>
              </a:ext>
            </a:extLst>
          </p:cNvPr>
          <p:cNvSpPr txBox="1"/>
          <p:nvPr/>
        </p:nvSpPr>
        <p:spPr>
          <a:xfrm>
            <a:off x="800100" y="3644900"/>
            <a:ext cx="31411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11234B"/>
                </a:solidFill>
                <a:latin typeface="Aptos" panose="020B0004020202020204" pitchFamily="34" charset="0"/>
              </a:rPr>
              <a:t>Searchable 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07D08-9C66-D4D3-D6A1-9E8E7D1DEE42}"/>
              </a:ext>
            </a:extLst>
          </p:cNvPr>
          <p:cNvSpPr txBox="1"/>
          <p:nvPr/>
        </p:nvSpPr>
        <p:spPr>
          <a:xfrm>
            <a:off x="800100" y="4025900"/>
            <a:ext cx="31411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Find notes, files and useful details from one searchable knowledge base.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18CF14B-A6DF-0606-64FB-3AF8B72B2308}"/>
              </a:ext>
            </a:extLst>
          </p:cNvPr>
          <p:cNvSpPr/>
          <p:nvPr/>
        </p:nvSpPr>
        <p:spPr>
          <a:xfrm>
            <a:off x="4334933" y="3276600"/>
            <a:ext cx="3522134" cy="14224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0C6522-56FE-2B2A-0713-4CF3CC4022DA}"/>
              </a:ext>
            </a:extLst>
          </p:cNvPr>
          <p:cNvSpPr/>
          <p:nvPr/>
        </p:nvSpPr>
        <p:spPr>
          <a:xfrm>
            <a:off x="4525433" y="3467100"/>
            <a:ext cx="4318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E53441-9215-EFE6-9D52-8F49EC432216}"/>
              </a:ext>
            </a:extLst>
          </p:cNvPr>
          <p:cNvSpPr txBox="1"/>
          <p:nvPr/>
        </p:nvSpPr>
        <p:spPr>
          <a:xfrm>
            <a:off x="7361767" y="34290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83D3D5-CF5A-2E7D-9FF0-B943A3ECB1C7}"/>
              </a:ext>
            </a:extLst>
          </p:cNvPr>
          <p:cNvSpPr txBox="1"/>
          <p:nvPr/>
        </p:nvSpPr>
        <p:spPr>
          <a:xfrm>
            <a:off x="4525433" y="3644900"/>
            <a:ext cx="31411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11234B"/>
                </a:solidFill>
                <a:latin typeface="Aptos" panose="020B0004020202020204" pitchFamily="34" charset="0"/>
              </a:rPr>
              <a:t>Smarter AI Chat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1955B6-B3A7-2CAD-0603-C673AB3975DB}"/>
              </a:ext>
            </a:extLst>
          </p:cNvPr>
          <p:cNvSpPr txBox="1"/>
          <p:nvPr/>
        </p:nvSpPr>
        <p:spPr>
          <a:xfrm>
            <a:off x="4525433" y="4025900"/>
            <a:ext cx="31411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Get answers informed by relevant details from previous activities.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66B95E-A12B-2D4C-E162-A35936514DD9}"/>
              </a:ext>
            </a:extLst>
          </p:cNvPr>
          <p:cNvSpPr/>
          <p:nvPr/>
        </p:nvSpPr>
        <p:spPr>
          <a:xfrm>
            <a:off x="8060267" y="3276600"/>
            <a:ext cx="3522133" cy="14224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D2A90B-9F10-0C51-53C5-9159DE244EF9}"/>
              </a:ext>
            </a:extLst>
          </p:cNvPr>
          <p:cNvSpPr/>
          <p:nvPr/>
        </p:nvSpPr>
        <p:spPr>
          <a:xfrm>
            <a:off x="8250767" y="3467100"/>
            <a:ext cx="4318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93B54D-3366-C666-9A8D-FBAE9DC13004}"/>
              </a:ext>
            </a:extLst>
          </p:cNvPr>
          <p:cNvSpPr txBox="1"/>
          <p:nvPr/>
        </p:nvSpPr>
        <p:spPr>
          <a:xfrm>
            <a:off x="11087100" y="34290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DA5647-FF90-29BB-2DA4-21CD099A36C4}"/>
              </a:ext>
            </a:extLst>
          </p:cNvPr>
          <p:cNvSpPr txBox="1"/>
          <p:nvPr/>
        </p:nvSpPr>
        <p:spPr>
          <a:xfrm>
            <a:off x="8250767" y="3644900"/>
            <a:ext cx="31411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11234B"/>
                </a:solidFill>
                <a:latin typeface="Aptos" panose="020B0004020202020204" pitchFamily="34" charset="0"/>
              </a:rPr>
              <a:t>Unified Recall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43FFEA-E43F-15B8-49E2-1C70AFE9B51A}"/>
              </a:ext>
            </a:extLst>
          </p:cNvPr>
          <p:cNvSpPr txBox="1"/>
          <p:nvPr/>
        </p:nvSpPr>
        <p:spPr>
          <a:xfrm>
            <a:off x="8250767" y="4025900"/>
            <a:ext cx="314113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Bring captured activity and stored information together.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4F5539-2588-1905-1E66-A7954DC436EA}"/>
              </a:ext>
            </a:extLst>
          </p:cNvPr>
          <p:cNvSpPr/>
          <p:nvPr/>
        </p:nvSpPr>
        <p:spPr>
          <a:xfrm>
            <a:off x="609600" y="4876800"/>
            <a:ext cx="5384800" cy="14224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4C221F-F645-A9BA-45C2-C026E6C24CF5}"/>
              </a:ext>
            </a:extLst>
          </p:cNvPr>
          <p:cNvSpPr/>
          <p:nvPr/>
        </p:nvSpPr>
        <p:spPr>
          <a:xfrm>
            <a:off x="800100" y="5067300"/>
            <a:ext cx="4318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1EF100-EE09-CC9E-ACA7-CB29A80B07F4}"/>
              </a:ext>
            </a:extLst>
          </p:cNvPr>
          <p:cNvSpPr txBox="1"/>
          <p:nvPr/>
        </p:nvSpPr>
        <p:spPr>
          <a:xfrm>
            <a:off x="5499100" y="50292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873FD6-EFA7-2F07-4DC1-20BBFCC13199}"/>
              </a:ext>
            </a:extLst>
          </p:cNvPr>
          <p:cNvSpPr txBox="1"/>
          <p:nvPr/>
        </p:nvSpPr>
        <p:spPr>
          <a:xfrm>
            <a:off x="800100" y="52451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11234B"/>
                </a:solidFill>
                <a:latin typeface="Aptos" panose="020B0004020202020204" pitchFamily="34" charset="0"/>
              </a:rPr>
              <a:t>Daily Briefings &amp; Planning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1D2784-B2AB-49A7-0C88-AC9C2189A239}"/>
              </a:ext>
            </a:extLst>
          </p:cNvPr>
          <p:cNvSpPr txBox="1"/>
          <p:nvPr/>
        </p:nvSpPr>
        <p:spPr>
          <a:xfrm>
            <a:off x="800100" y="56261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Surface useful information and support everyday planning.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C6A7905-59DC-F019-2AD6-0594CA98EAFE}"/>
              </a:ext>
            </a:extLst>
          </p:cNvPr>
          <p:cNvSpPr/>
          <p:nvPr/>
        </p:nvSpPr>
        <p:spPr>
          <a:xfrm>
            <a:off x="6197600" y="4876800"/>
            <a:ext cx="5384800" cy="14224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329CEE-8529-41D2-7A63-3B708CBF6AE8}"/>
              </a:ext>
            </a:extLst>
          </p:cNvPr>
          <p:cNvSpPr/>
          <p:nvPr/>
        </p:nvSpPr>
        <p:spPr>
          <a:xfrm>
            <a:off x="6388100" y="5067300"/>
            <a:ext cx="4318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FC3D27-E7E0-41BB-B3DB-8AE88274C885}"/>
              </a:ext>
            </a:extLst>
          </p:cNvPr>
          <p:cNvSpPr txBox="1"/>
          <p:nvPr/>
        </p:nvSpPr>
        <p:spPr>
          <a:xfrm>
            <a:off x="11087100" y="50292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ADF277-ABF8-B1A6-6666-5022EA8900E7}"/>
              </a:ext>
            </a:extLst>
          </p:cNvPr>
          <p:cNvSpPr txBox="1"/>
          <p:nvPr/>
        </p:nvSpPr>
        <p:spPr>
          <a:xfrm>
            <a:off x="6388100" y="52451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 dirty="0">
                <a:solidFill>
                  <a:srgbClr val="11234B"/>
                </a:solidFill>
                <a:latin typeface="Aptos" panose="020B0004020202020204" pitchFamily="34" charset="0"/>
              </a:rPr>
              <a:t>Privacy-First Design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0C29BE-85CE-90FB-58A9-928BDFC58F1F}"/>
              </a:ext>
            </a:extLst>
          </p:cNvPr>
          <p:cNvSpPr txBox="1"/>
          <p:nvPr/>
        </p:nvSpPr>
        <p:spPr>
          <a:xfrm>
            <a:off x="6388100" y="5626100"/>
            <a:ext cx="500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dirty="0">
                <a:solidFill>
                  <a:srgbClr val="5B6C86"/>
                </a:solidFill>
                <a:latin typeface="Aptos" panose="020B0004020202020204" pitchFamily="34" charset="0"/>
              </a:rPr>
              <a:t>Keep personal memory local while sharing selected context with cloud AI.</a:t>
            </a:r>
            <a:endParaRPr lang="en-IN" sz="1000" dirty="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DAEAA2-A9D0-93FA-BDA8-239885DB3EB1}"/>
              </a:ext>
            </a:extLst>
          </p:cNvPr>
          <p:cNvSpPr txBox="1"/>
          <p:nvPr/>
        </p:nvSpPr>
        <p:spPr>
          <a:xfrm>
            <a:off x="609600" y="65786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5B6C86"/>
                </a:solidFill>
                <a:latin typeface="Aptos" panose="020B0004020202020204" pitchFamily="34" charset="0"/>
              </a:rPr>
              <a:t>DCoders  |  MIRA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FAB2BB7-BD7B-C760-3612-17E4FCD5D9D1}"/>
              </a:ext>
            </a:extLst>
          </p:cNvPr>
          <p:cNvSpPr/>
          <p:nvPr/>
        </p:nvSpPr>
        <p:spPr>
          <a:xfrm>
            <a:off x="609600" y="2082800"/>
            <a:ext cx="10972800" cy="609600"/>
          </a:xfrm>
          <a:prstGeom prst="roundRect">
            <a:avLst/>
          </a:prstGeom>
          <a:solidFill>
            <a:srgbClr val="EEF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7803DA-95AE-64C1-1432-87315AC158A7}"/>
              </a:ext>
            </a:extLst>
          </p:cNvPr>
          <p:cNvSpPr txBox="1"/>
          <p:nvPr/>
        </p:nvSpPr>
        <p:spPr>
          <a:xfrm>
            <a:off x="863600" y="2260600"/>
            <a:ext cx="23304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100" b="1" dirty="0">
                <a:solidFill>
                  <a:srgbClr val="2364EB"/>
                </a:solidFill>
                <a:latin typeface="Aptos" panose="020B0004020202020204" pitchFamily="34" charset="0"/>
              </a:rPr>
              <a:t>CAPTURE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F30599-6D59-2D43-39B1-12127ED7CDBB}"/>
              </a:ext>
            </a:extLst>
          </p:cNvPr>
          <p:cNvSpPr txBox="1"/>
          <p:nvPr/>
        </p:nvSpPr>
        <p:spPr>
          <a:xfrm>
            <a:off x="3194050" y="22479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300" b="1" dirty="0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6B1096-4D74-2005-E964-ED2FF9BA8B41}"/>
              </a:ext>
            </a:extLst>
          </p:cNvPr>
          <p:cNvSpPr txBox="1"/>
          <p:nvPr/>
        </p:nvSpPr>
        <p:spPr>
          <a:xfrm>
            <a:off x="3575050" y="2260600"/>
            <a:ext cx="23304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100" b="1" dirty="0">
                <a:solidFill>
                  <a:srgbClr val="2364EB"/>
                </a:solidFill>
                <a:latin typeface="Aptos" panose="020B0004020202020204" pitchFamily="34" charset="0"/>
              </a:rPr>
              <a:t>REMEMBER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B812B4-BBB7-04DD-033C-2D32D1AD7E08}"/>
              </a:ext>
            </a:extLst>
          </p:cNvPr>
          <p:cNvSpPr txBox="1"/>
          <p:nvPr/>
        </p:nvSpPr>
        <p:spPr>
          <a:xfrm>
            <a:off x="5905500" y="22479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3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2715BC-1290-71B6-7371-4A2C531D777D}"/>
              </a:ext>
            </a:extLst>
          </p:cNvPr>
          <p:cNvSpPr txBox="1"/>
          <p:nvPr/>
        </p:nvSpPr>
        <p:spPr>
          <a:xfrm>
            <a:off x="6286500" y="2260600"/>
            <a:ext cx="23304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100" b="1">
                <a:solidFill>
                  <a:srgbClr val="2364EB"/>
                </a:solidFill>
                <a:latin typeface="Aptos" panose="020B0004020202020204" pitchFamily="34" charset="0"/>
              </a:rPr>
              <a:t>RECALL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DBF4FF-9787-60B0-06BB-FF2C6B3BFA2B}"/>
              </a:ext>
            </a:extLst>
          </p:cNvPr>
          <p:cNvSpPr txBox="1"/>
          <p:nvPr/>
        </p:nvSpPr>
        <p:spPr>
          <a:xfrm>
            <a:off x="8616950" y="22479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3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DFEC8B-38F7-23F5-CF53-71667B46EA5F}"/>
              </a:ext>
            </a:extLst>
          </p:cNvPr>
          <p:cNvSpPr txBox="1"/>
          <p:nvPr/>
        </p:nvSpPr>
        <p:spPr>
          <a:xfrm>
            <a:off x="8997950" y="2260600"/>
            <a:ext cx="23304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100" b="1" dirty="0">
                <a:solidFill>
                  <a:srgbClr val="2364EB"/>
                </a:solidFill>
                <a:latin typeface="Aptos" panose="020B0004020202020204" pitchFamily="34" charset="0"/>
              </a:rPr>
              <a:t>ASSIST</a:t>
            </a:r>
          </a:p>
        </p:txBody>
      </p:sp>
    </p:spTree>
    <p:extLst>
      <p:ext uri="{BB962C8B-B14F-4D97-AF65-F5344CB8AC3E}">
        <p14:creationId xmlns:p14="http://schemas.microsoft.com/office/powerpoint/2010/main" val="222441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DA96AC-A830-CB28-C7F8-93B25A04CB2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EE294-E8DD-C148-B751-C1E4A80E50FF}"/>
              </a:ext>
            </a:extLst>
          </p:cNvPr>
          <p:cNvSpPr txBox="1"/>
          <p:nvPr/>
        </p:nvSpPr>
        <p:spPr>
          <a:xfrm>
            <a:off x="609600" y="342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MIRA CAPABILITIES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5BEAF-4E07-6580-89CC-668EF180466E}"/>
              </a:ext>
            </a:extLst>
          </p:cNvPr>
          <p:cNvSpPr txBox="1"/>
          <p:nvPr/>
        </p:nvSpPr>
        <p:spPr>
          <a:xfrm>
            <a:off x="609600" y="698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11234B"/>
                </a:solidFill>
                <a:latin typeface="Aptos" panose="020B0004020202020204" pitchFamily="34" charset="0"/>
              </a:rPr>
              <a:t>Beyond Memory: Your Everyday AI Assistant</a:t>
            </a:r>
            <a:endParaRPr lang="en-IN" sz="2700" b="1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7FA1C-42CF-72F1-CB36-A4B6446CE2C3}"/>
              </a:ext>
            </a:extLst>
          </p:cNvPr>
          <p:cNvSpPr txBox="1"/>
          <p:nvPr/>
        </p:nvSpPr>
        <p:spPr>
          <a:xfrm>
            <a:off x="609600" y="1308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B6C86"/>
                </a:solidFill>
                <a:latin typeface="Aptos" panose="020B0004020202020204" pitchFamily="34" charset="0"/>
              </a:rPr>
              <a:t>One assistant for conversations, planning, awareness and privacy.</a:t>
            </a:r>
            <a:endParaRPr lang="en-IN" sz="13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2BEF31-0ABA-413B-2B94-9879779CF3A5}"/>
              </a:ext>
            </a:extLst>
          </p:cNvPr>
          <p:cNvSpPr/>
          <p:nvPr/>
        </p:nvSpPr>
        <p:spPr>
          <a:xfrm>
            <a:off x="609600" y="1841500"/>
            <a:ext cx="5372100" cy="19050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F06979-3637-DBE8-13B3-3343B4D0F49A}"/>
              </a:ext>
            </a:extLst>
          </p:cNvPr>
          <p:cNvSpPr/>
          <p:nvPr/>
        </p:nvSpPr>
        <p:spPr>
          <a:xfrm>
            <a:off x="825500" y="2032000"/>
            <a:ext cx="482600" cy="508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DCA74-2BF8-2BC2-7A5D-2C404B261FE7}"/>
              </a:ext>
            </a:extLst>
          </p:cNvPr>
          <p:cNvSpPr txBox="1"/>
          <p:nvPr/>
        </p:nvSpPr>
        <p:spPr>
          <a:xfrm>
            <a:off x="5448300" y="19939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400D2-8DA8-D4E7-6628-3270AAA6E7A2}"/>
              </a:ext>
            </a:extLst>
          </p:cNvPr>
          <p:cNvSpPr txBox="1"/>
          <p:nvPr/>
        </p:nvSpPr>
        <p:spPr>
          <a:xfrm>
            <a:off x="825500" y="22479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11234B"/>
                </a:solidFill>
                <a:latin typeface="Aptos" panose="020B0004020202020204" pitchFamily="34" charset="0"/>
              </a:rPr>
              <a:t>Natural Interaction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D5C23C-5988-DF9F-21BE-7F8A6BB1F84D}"/>
              </a:ext>
            </a:extLst>
          </p:cNvPr>
          <p:cNvSpPr txBox="1"/>
          <p:nvPr/>
        </p:nvSpPr>
        <p:spPr>
          <a:xfrm>
            <a:off x="825500" y="26162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Talk to MIRA or type instructions and questions.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F6743-60B4-EFEE-5296-2F339C43D904}"/>
              </a:ext>
            </a:extLst>
          </p:cNvPr>
          <p:cNvSpPr txBox="1"/>
          <p:nvPr/>
        </p:nvSpPr>
        <p:spPr>
          <a:xfrm>
            <a:off x="825500" y="30607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11234B"/>
                </a:solidFill>
                <a:latin typeface="Aptos" panose="020B0004020202020204" pitchFamily="34" charset="0"/>
              </a:rPr>
              <a:t>Text-based chat</a:t>
            </a:r>
          </a:p>
          <a:p>
            <a:r>
              <a:rPr lang="en-IN" sz="1000">
                <a:solidFill>
                  <a:srgbClr val="11234B"/>
                </a:solidFill>
                <a:latin typeface="Aptos" panose="020B0004020202020204" pitchFamily="34" charset="0"/>
              </a:rPr>
              <a:t>Conversational AI replies</a:t>
            </a:r>
          </a:p>
          <a:p>
            <a:r>
              <a:rPr lang="en-IN" sz="1000">
                <a:solidFill>
                  <a:srgbClr val="11234B"/>
                </a:solidFill>
                <a:latin typeface="Aptos" panose="020B0004020202020204" pitchFamily="34" charset="0"/>
              </a:rPr>
              <a:t>Context-aware assistance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385FEF-19FA-FA6D-F0D9-DD735BA449AA}"/>
              </a:ext>
            </a:extLst>
          </p:cNvPr>
          <p:cNvSpPr/>
          <p:nvPr/>
        </p:nvSpPr>
        <p:spPr>
          <a:xfrm>
            <a:off x="6210300" y="1841500"/>
            <a:ext cx="5372100" cy="19050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EA35C0-05CB-B657-6A39-0E034A2202EF}"/>
              </a:ext>
            </a:extLst>
          </p:cNvPr>
          <p:cNvSpPr/>
          <p:nvPr/>
        </p:nvSpPr>
        <p:spPr>
          <a:xfrm>
            <a:off x="6426200" y="2032000"/>
            <a:ext cx="482600" cy="508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662DC5-3B96-B694-3CFE-7AB579592B57}"/>
              </a:ext>
            </a:extLst>
          </p:cNvPr>
          <p:cNvSpPr txBox="1"/>
          <p:nvPr/>
        </p:nvSpPr>
        <p:spPr>
          <a:xfrm>
            <a:off x="11049000" y="19939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729626-C27C-B285-25C5-0085BCD91E4B}"/>
              </a:ext>
            </a:extLst>
          </p:cNvPr>
          <p:cNvSpPr txBox="1"/>
          <p:nvPr/>
        </p:nvSpPr>
        <p:spPr>
          <a:xfrm>
            <a:off x="6426200" y="22479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11234B"/>
                </a:solidFill>
                <a:latin typeface="Aptos" panose="020B0004020202020204" pitchFamily="34" charset="0"/>
              </a:rPr>
              <a:t>Daily Intelligence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B07AD-BC3B-CB5C-0A84-19404D557545}"/>
              </a:ext>
            </a:extLst>
          </p:cNvPr>
          <p:cNvSpPr txBox="1"/>
          <p:nvPr/>
        </p:nvSpPr>
        <p:spPr>
          <a:xfrm>
            <a:off x="6426200" y="26162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Make everyday decisions and planning easier.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B3888-E90D-A9FD-6BCB-8AC87079E9D8}"/>
              </a:ext>
            </a:extLst>
          </p:cNvPr>
          <p:cNvSpPr txBox="1"/>
          <p:nvPr/>
        </p:nvSpPr>
        <p:spPr>
          <a:xfrm>
            <a:off x="6426200" y="30607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Daily suggestions</a:t>
            </a:r>
          </a:p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Day planning</a:t>
            </a:r>
          </a:p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Weekend planning</a:t>
            </a:r>
            <a:endParaRPr lang="en-IN" sz="100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A0BE24-5946-1161-D53A-324AA835FD45}"/>
              </a:ext>
            </a:extLst>
          </p:cNvPr>
          <p:cNvSpPr/>
          <p:nvPr/>
        </p:nvSpPr>
        <p:spPr>
          <a:xfrm>
            <a:off x="609600" y="3924300"/>
            <a:ext cx="5372100" cy="19050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0623CC-1F03-DA79-DBE8-C7F12520C274}"/>
              </a:ext>
            </a:extLst>
          </p:cNvPr>
          <p:cNvSpPr/>
          <p:nvPr/>
        </p:nvSpPr>
        <p:spPr>
          <a:xfrm>
            <a:off x="825500" y="4114800"/>
            <a:ext cx="482600" cy="508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2F2DC-516A-F1DE-3E49-940C685B273D}"/>
              </a:ext>
            </a:extLst>
          </p:cNvPr>
          <p:cNvSpPr txBox="1"/>
          <p:nvPr/>
        </p:nvSpPr>
        <p:spPr>
          <a:xfrm>
            <a:off x="5448300" y="40767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87F21C-E8E3-5544-E443-8664EC532F0A}"/>
              </a:ext>
            </a:extLst>
          </p:cNvPr>
          <p:cNvSpPr txBox="1"/>
          <p:nvPr/>
        </p:nvSpPr>
        <p:spPr>
          <a:xfrm>
            <a:off x="825500" y="43307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11234B"/>
                </a:solidFill>
                <a:latin typeface="Aptos" panose="020B0004020202020204" pitchFamily="34" charset="0"/>
              </a:rPr>
              <a:t>Live Awareness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7443D3-C903-5ED2-6443-3B90EA39FB7E}"/>
              </a:ext>
            </a:extLst>
          </p:cNvPr>
          <p:cNvSpPr txBox="1"/>
          <p:nvPr/>
        </p:nvSpPr>
        <p:spPr>
          <a:xfrm>
            <a:off x="825500" y="46990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Stay informed about conditions and events around you.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5BCF4-AAB4-F589-47C3-7C8CD4049AB7}"/>
              </a:ext>
            </a:extLst>
          </p:cNvPr>
          <p:cNvSpPr txBox="1"/>
          <p:nvPr/>
        </p:nvSpPr>
        <p:spPr>
          <a:xfrm>
            <a:off x="825500" y="51435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Weather forecasts + suggestions</a:t>
            </a:r>
          </a:p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Nearby and regional news</a:t>
            </a:r>
          </a:p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National headlines</a:t>
            </a:r>
            <a:endParaRPr lang="en-IN" sz="100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6A59EBE-F979-8CA3-060E-BFD20A899251}"/>
              </a:ext>
            </a:extLst>
          </p:cNvPr>
          <p:cNvSpPr/>
          <p:nvPr/>
        </p:nvSpPr>
        <p:spPr>
          <a:xfrm>
            <a:off x="6210300" y="3924300"/>
            <a:ext cx="5372100" cy="1905000"/>
          </a:xfrm>
          <a:prstGeom prst="roundRect">
            <a:avLst/>
          </a:prstGeom>
          <a:solidFill>
            <a:srgbClr val="F6F9FF"/>
          </a:solidFill>
          <a:ln w="12700">
            <a:solidFill>
              <a:srgbClr val="DE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43ACE9-B6D1-EF93-65C0-A274C37AA389}"/>
              </a:ext>
            </a:extLst>
          </p:cNvPr>
          <p:cNvSpPr/>
          <p:nvPr/>
        </p:nvSpPr>
        <p:spPr>
          <a:xfrm>
            <a:off x="6426200" y="4114800"/>
            <a:ext cx="482600" cy="508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184C96-D3B3-DC4F-A82F-AE2B76D252FE}"/>
              </a:ext>
            </a:extLst>
          </p:cNvPr>
          <p:cNvSpPr txBox="1"/>
          <p:nvPr/>
        </p:nvSpPr>
        <p:spPr>
          <a:xfrm>
            <a:off x="11049000" y="40767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631E7B-D67A-E0C4-7961-33E2F5176CDF}"/>
              </a:ext>
            </a:extLst>
          </p:cNvPr>
          <p:cNvSpPr txBox="1"/>
          <p:nvPr/>
        </p:nvSpPr>
        <p:spPr>
          <a:xfrm>
            <a:off x="6426200" y="43307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11234B"/>
                </a:solidFill>
                <a:latin typeface="Aptos" panose="020B0004020202020204" pitchFamily="34" charset="0"/>
              </a:rPr>
              <a:t>Privacy &amp;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42CE72-6171-D95F-94DB-205D4E972278}"/>
              </a:ext>
            </a:extLst>
          </p:cNvPr>
          <p:cNvSpPr txBox="1"/>
          <p:nvPr/>
        </p:nvSpPr>
        <p:spPr>
          <a:xfrm>
            <a:off x="6426200" y="46990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B6C86"/>
                </a:solidFill>
                <a:latin typeface="Aptos" panose="020B0004020202020204" pitchFamily="34" charset="0"/>
              </a:rPr>
              <a:t>Keep personal information under user control.</a:t>
            </a:r>
            <a:endParaRPr lang="en-IN" sz="1000">
              <a:solidFill>
                <a:srgbClr val="5B6C86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B94341-D1B7-D322-6DBE-C7C9A35BCAD8}"/>
              </a:ext>
            </a:extLst>
          </p:cNvPr>
          <p:cNvSpPr txBox="1"/>
          <p:nvPr/>
        </p:nvSpPr>
        <p:spPr>
          <a:xfrm>
            <a:off x="6426200" y="5143500"/>
            <a:ext cx="494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Local data storage</a:t>
            </a:r>
          </a:p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Encryption and access protection</a:t>
            </a:r>
          </a:p>
          <a:p>
            <a:r>
              <a:rPr lang="en-US" sz="1000">
                <a:solidFill>
                  <a:srgbClr val="11234B"/>
                </a:solidFill>
                <a:latin typeface="Aptos" panose="020B0004020202020204" pitchFamily="34" charset="0"/>
              </a:rPr>
              <a:t>Selective context sharing</a:t>
            </a:r>
            <a:endParaRPr lang="en-IN" sz="100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1DFE3AB-6B6B-5D5B-B364-7FEB90CBF659}"/>
              </a:ext>
            </a:extLst>
          </p:cNvPr>
          <p:cNvSpPr/>
          <p:nvPr/>
        </p:nvSpPr>
        <p:spPr>
          <a:xfrm>
            <a:off x="609600" y="6261100"/>
            <a:ext cx="10972800" cy="317500"/>
          </a:xfrm>
          <a:prstGeom prst="roundRect">
            <a:avLst/>
          </a:prstGeom>
          <a:solidFill>
            <a:srgbClr val="EEF5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C87294-8276-99B0-1984-773EE8E0DD45}"/>
              </a:ext>
            </a:extLst>
          </p:cNvPr>
          <p:cNvSpPr txBox="1"/>
          <p:nvPr/>
        </p:nvSpPr>
        <p:spPr>
          <a:xfrm>
            <a:off x="762000" y="63119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11234B"/>
                </a:solidFill>
                <a:latin typeface="Aptos" panose="020B0004020202020204" pitchFamily="34" charset="0"/>
              </a:rPr>
              <a:t>One assistant. Connected context. More informed everyday decisions.</a:t>
            </a:r>
            <a:endParaRPr lang="en-IN" sz="1000" b="1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8C02B1-6E7D-72F2-9DC3-7D60DD3BE7DC}"/>
              </a:ext>
            </a:extLst>
          </p:cNvPr>
          <p:cNvSpPr txBox="1"/>
          <p:nvPr/>
        </p:nvSpPr>
        <p:spPr>
          <a:xfrm>
            <a:off x="609600" y="6629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5B6C86"/>
                </a:solidFill>
                <a:latin typeface="Aptos" panose="020B0004020202020204" pitchFamily="34" charset="0"/>
              </a:rPr>
              <a:t>DCoders  |  MIRA</a:t>
            </a:r>
          </a:p>
        </p:txBody>
      </p:sp>
    </p:spTree>
    <p:extLst>
      <p:ext uri="{BB962C8B-B14F-4D97-AF65-F5344CB8AC3E}">
        <p14:creationId xmlns:p14="http://schemas.microsoft.com/office/powerpoint/2010/main" val="75640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9934E2-CEFA-BF8E-D97C-F5887536528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06E1E0-982B-E51B-5105-8EF87C044CAE}"/>
              </a:ext>
            </a:extLst>
          </p:cNvPr>
          <p:cNvSpPr txBox="1"/>
          <p:nvPr/>
        </p:nvSpPr>
        <p:spPr>
          <a:xfrm>
            <a:off x="533400" y="2540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UNDER THE HOOD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84F9D-E664-8D2C-51CC-A3214BAFE9A0}"/>
              </a:ext>
            </a:extLst>
          </p:cNvPr>
          <p:cNvSpPr txBox="1"/>
          <p:nvPr/>
        </p:nvSpPr>
        <p:spPr>
          <a:xfrm>
            <a:off x="533400" y="5334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500" b="1">
                <a:solidFill>
                  <a:srgbClr val="11234B"/>
                </a:solidFill>
                <a:latin typeface="Aptos" panose="020B0004020202020204" pitchFamily="34" charset="0"/>
              </a:rPr>
              <a:t>MIRA Technical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44AA1-E26A-34A4-DA6C-BE4005B64DD4}"/>
              </a:ext>
            </a:extLst>
          </p:cNvPr>
          <p:cNvSpPr txBox="1"/>
          <p:nvPr/>
        </p:nvSpPr>
        <p:spPr>
          <a:xfrm>
            <a:off x="533400" y="10287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36582"/>
                </a:solidFill>
                <a:latin typeface="Aptos" panose="020B0004020202020204" pitchFamily="34" charset="0"/>
              </a:rPr>
              <a:t>Six core services connected through APIs and asynchronous event streams.</a:t>
            </a:r>
            <a:endParaRPr lang="en-IN" sz="110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5A7A7B-E660-8B2B-3035-AEAF9E6C50F3}"/>
              </a:ext>
            </a:extLst>
          </p:cNvPr>
          <p:cNvSpPr/>
          <p:nvPr/>
        </p:nvSpPr>
        <p:spPr>
          <a:xfrm>
            <a:off x="533400" y="1460500"/>
            <a:ext cx="3606800" cy="13462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C74C9B-C3B7-92C2-2693-83EEFFF4CD1A}"/>
              </a:ext>
            </a:extLst>
          </p:cNvPr>
          <p:cNvSpPr/>
          <p:nvPr/>
        </p:nvSpPr>
        <p:spPr>
          <a:xfrm>
            <a:off x="685800" y="16002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3854A-CFDF-AE11-9205-F5F90D432E0D}"/>
              </a:ext>
            </a:extLst>
          </p:cNvPr>
          <p:cNvSpPr txBox="1"/>
          <p:nvPr/>
        </p:nvSpPr>
        <p:spPr>
          <a:xfrm>
            <a:off x="685800" y="1727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11234B"/>
                </a:solidFill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3815BA-B82F-22EB-0248-A2DB103FD9BB}"/>
              </a:ext>
            </a:extLst>
          </p:cNvPr>
          <p:cNvSpPr txBox="1"/>
          <p:nvPr/>
        </p:nvSpPr>
        <p:spPr>
          <a:xfrm>
            <a:off x="685800" y="1993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36582"/>
                </a:solidFill>
                <a:latin typeface="Aptos" panose="020B0004020202020204" pitchFamily="34" charset="0"/>
              </a:rPr>
              <a:t>Desktop interface for chat, voice, memory search and privacy controls. Sends requests and displays AI responses.</a:t>
            </a:r>
            <a:endParaRPr lang="en-IN" sz="8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A035C-D3B6-0F1A-DCBF-8B21E49605B0}"/>
              </a:ext>
            </a:extLst>
          </p:cNvPr>
          <p:cNvSpPr txBox="1"/>
          <p:nvPr/>
        </p:nvSpPr>
        <p:spPr>
          <a:xfrm>
            <a:off x="685800" y="25527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750" b="1">
                <a:solidFill>
                  <a:srgbClr val="2364EB"/>
                </a:solidFill>
                <a:latin typeface="Aptos" panose="020B0004020202020204" pitchFamily="34" charset="0"/>
              </a:rPr>
              <a:t>React + TypeScript | Tauri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974F61-D3D6-04EB-5CD7-0AC8A671E73F}"/>
              </a:ext>
            </a:extLst>
          </p:cNvPr>
          <p:cNvSpPr/>
          <p:nvPr/>
        </p:nvSpPr>
        <p:spPr>
          <a:xfrm>
            <a:off x="4292600" y="1460500"/>
            <a:ext cx="3606800" cy="13462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082788-328F-3DC8-D837-6B19D1CC322A}"/>
              </a:ext>
            </a:extLst>
          </p:cNvPr>
          <p:cNvSpPr/>
          <p:nvPr/>
        </p:nvSpPr>
        <p:spPr>
          <a:xfrm>
            <a:off x="4445000" y="16002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E28C4-6A83-EB47-B7AB-8CCFB3798247}"/>
              </a:ext>
            </a:extLst>
          </p:cNvPr>
          <p:cNvSpPr txBox="1"/>
          <p:nvPr/>
        </p:nvSpPr>
        <p:spPr>
          <a:xfrm>
            <a:off x="4445000" y="1727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11234B"/>
                </a:solidFill>
                <a:latin typeface="Aptos" panose="020B0004020202020204" pitchFamily="34" charset="0"/>
              </a:rPr>
              <a:t>ENGINE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EEA7E-9171-B1C7-9B89-2F74D52EEB90}"/>
              </a:ext>
            </a:extLst>
          </p:cNvPr>
          <p:cNvSpPr txBox="1"/>
          <p:nvPr/>
        </p:nvSpPr>
        <p:spPr>
          <a:xfrm>
            <a:off x="4445000" y="1993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36582"/>
                </a:solidFill>
                <a:latin typeface="Aptos" panose="020B0004020202020204" pitchFamily="34" charset="0"/>
              </a:rPr>
              <a:t>Coordinates AI workflows, retrieves context, builds prompts, runs models and returns responses. Supports speech-to-text.</a:t>
            </a:r>
            <a:endParaRPr lang="en-IN" sz="8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B44EE-6329-02C1-5ECB-8CDCB7BFBAB2}"/>
              </a:ext>
            </a:extLst>
          </p:cNvPr>
          <p:cNvSpPr txBox="1"/>
          <p:nvPr/>
        </p:nvSpPr>
        <p:spPr>
          <a:xfrm>
            <a:off x="4445000" y="25527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750" b="1">
                <a:solidFill>
                  <a:srgbClr val="2364EB"/>
                </a:solidFill>
                <a:latin typeface="Aptos" panose="020B0004020202020204" pitchFamily="34" charset="0"/>
              </a:rPr>
              <a:t>Python | FastAPI | LLM providers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4B640B-C1FD-30D4-71BE-9BD5DDF1AA1D}"/>
              </a:ext>
            </a:extLst>
          </p:cNvPr>
          <p:cNvSpPr/>
          <p:nvPr/>
        </p:nvSpPr>
        <p:spPr>
          <a:xfrm>
            <a:off x="8051800" y="1460500"/>
            <a:ext cx="3606800" cy="13462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08377-D427-8F79-39DE-1944983F2F25}"/>
              </a:ext>
            </a:extLst>
          </p:cNvPr>
          <p:cNvSpPr/>
          <p:nvPr/>
        </p:nvSpPr>
        <p:spPr>
          <a:xfrm>
            <a:off x="8204200" y="16002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3D849-AEC0-3188-4762-AF9FD505481C}"/>
              </a:ext>
            </a:extLst>
          </p:cNvPr>
          <p:cNvSpPr txBox="1"/>
          <p:nvPr/>
        </p:nvSpPr>
        <p:spPr>
          <a:xfrm>
            <a:off x="8204200" y="1727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11234B"/>
                </a:solidFill>
                <a:latin typeface="Aptos" panose="020B0004020202020204" pitchFamily="34" charset="0"/>
              </a:rPr>
              <a:t>MEMORY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5C3891-2F17-ACF5-612F-A47AD47CF21B}"/>
              </a:ext>
            </a:extLst>
          </p:cNvPr>
          <p:cNvSpPr txBox="1"/>
          <p:nvPr/>
        </p:nvSpPr>
        <p:spPr>
          <a:xfrm>
            <a:off x="8204200" y="1993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36582"/>
                </a:solidFill>
                <a:latin typeface="Aptos" panose="020B0004020202020204" pitchFamily="34" charset="0"/>
              </a:rPr>
              <a:t>Filters duplicate screen frames, extracts text using OCR, creates searchable memory and retrieves relevant context.</a:t>
            </a:r>
            <a:endParaRPr lang="en-IN" sz="8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C729B-DC28-9977-8672-4490A2A15F66}"/>
              </a:ext>
            </a:extLst>
          </p:cNvPr>
          <p:cNvSpPr txBox="1"/>
          <p:nvPr/>
        </p:nvSpPr>
        <p:spPr>
          <a:xfrm>
            <a:off x="8204200" y="25527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750" b="1">
                <a:solidFill>
                  <a:srgbClr val="2364EB"/>
                </a:solidFill>
                <a:latin typeface="Aptos" panose="020B0004020202020204" pitchFamily="34" charset="0"/>
              </a:rPr>
              <a:t>Python | OpenCV | Tesseract | Qdrant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9FCA2B8-F110-AE1C-6D95-9F539399754C}"/>
              </a:ext>
            </a:extLst>
          </p:cNvPr>
          <p:cNvSpPr/>
          <p:nvPr/>
        </p:nvSpPr>
        <p:spPr>
          <a:xfrm>
            <a:off x="533400" y="2933700"/>
            <a:ext cx="3606800" cy="13462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613FB-FCD3-478C-8C06-4B9719164912}"/>
              </a:ext>
            </a:extLst>
          </p:cNvPr>
          <p:cNvSpPr/>
          <p:nvPr/>
        </p:nvSpPr>
        <p:spPr>
          <a:xfrm>
            <a:off x="685800" y="30734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0CFC1A-5ADD-CAC3-8969-1F0D7CCDAC25}"/>
              </a:ext>
            </a:extLst>
          </p:cNvPr>
          <p:cNvSpPr txBox="1"/>
          <p:nvPr/>
        </p:nvSpPr>
        <p:spPr>
          <a:xfrm>
            <a:off x="685800" y="3200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11234B"/>
                </a:solidFill>
                <a:latin typeface="Aptos" panose="020B0004020202020204" pitchFamily="34" charset="0"/>
              </a:rPr>
              <a:t>OPERATOR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937944-B894-D273-3351-5B4DE6DB7F0F}"/>
              </a:ext>
            </a:extLst>
          </p:cNvPr>
          <p:cNvSpPr txBox="1"/>
          <p:nvPr/>
        </p:nvSpPr>
        <p:spPr>
          <a:xfrm>
            <a:off x="685800" y="34671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36582"/>
                </a:solidFill>
                <a:latin typeface="Aptos" panose="020B0004020202020204" pitchFamily="34" charset="0"/>
              </a:rPr>
              <a:t>Captures desktop screens and app metadata under privacy controls. Sends capture jobs and removes temporary screenshots after processing.</a:t>
            </a:r>
            <a:endParaRPr lang="en-IN" sz="8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915D8C-54D7-8E61-B5DE-CD2806B4C591}"/>
              </a:ext>
            </a:extLst>
          </p:cNvPr>
          <p:cNvSpPr txBox="1"/>
          <p:nvPr/>
        </p:nvSpPr>
        <p:spPr>
          <a:xfrm>
            <a:off x="685800" y="4025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750" b="1">
                <a:solidFill>
                  <a:srgbClr val="2364EB"/>
                </a:solidFill>
                <a:latin typeface="Aptos" panose="020B0004020202020204" pitchFamily="34" charset="0"/>
              </a:rPr>
              <a:t>Rust | Tokio | Native capture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12AF7B9-3DB7-4167-C17A-5CE904ADD5C7}"/>
              </a:ext>
            </a:extLst>
          </p:cNvPr>
          <p:cNvSpPr/>
          <p:nvPr/>
        </p:nvSpPr>
        <p:spPr>
          <a:xfrm>
            <a:off x="4292600" y="2933700"/>
            <a:ext cx="3606800" cy="13462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501E89-C827-B2F0-14D1-4CC6219B00A4}"/>
              </a:ext>
            </a:extLst>
          </p:cNvPr>
          <p:cNvSpPr/>
          <p:nvPr/>
        </p:nvSpPr>
        <p:spPr>
          <a:xfrm>
            <a:off x="4445000" y="30734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75BCD-4C82-FD4F-8901-423FB10A7299}"/>
              </a:ext>
            </a:extLst>
          </p:cNvPr>
          <p:cNvSpPr txBox="1"/>
          <p:nvPr/>
        </p:nvSpPr>
        <p:spPr>
          <a:xfrm>
            <a:off x="4445000" y="3200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11234B"/>
                </a:solidFill>
                <a:latin typeface="Aptos" panose="020B0004020202020204" pitchFamily="34" charset="0"/>
              </a:rPr>
              <a:t>VAULT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CA1A23-CFFD-8AD0-3F55-0A0A51D167A7}"/>
              </a:ext>
            </a:extLst>
          </p:cNvPr>
          <p:cNvSpPr txBox="1"/>
          <p:nvPr/>
        </p:nvSpPr>
        <p:spPr>
          <a:xfrm>
            <a:off x="4445000" y="34671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36582"/>
                </a:solidFill>
                <a:latin typeface="Aptos" panose="020B0004020202020204" pitchFamily="34" charset="0"/>
              </a:rPr>
              <a:t>Manages configuration, credentials, user profiles, chat history and encrypted audit records.</a:t>
            </a:r>
            <a:endParaRPr lang="en-IN" sz="8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4DA27B-67C3-094F-D64D-5CB99052986B}"/>
              </a:ext>
            </a:extLst>
          </p:cNvPr>
          <p:cNvSpPr txBox="1"/>
          <p:nvPr/>
        </p:nvSpPr>
        <p:spPr>
          <a:xfrm>
            <a:off x="4445000" y="4025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750" b="1">
                <a:solidFill>
                  <a:srgbClr val="2364EB"/>
                </a:solidFill>
                <a:latin typeface="Aptos" panose="020B0004020202020204" pitchFamily="34" charset="0"/>
              </a:rPr>
              <a:t>FastAPI | SQLite | PyNaCl | OS keyring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4C8FF5C-D813-1A35-B380-77D5D826DA99}"/>
              </a:ext>
            </a:extLst>
          </p:cNvPr>
          <p:cNvSpPr/>
          <p:nvPr/>
        </p:nvSpPr>
        <p:spPr>
          <a:xfrm>
            <a:off x="8051800" y="2933700"/>
            <a:ext cx="3606800" cy="13462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AB40B3-9470-86FF-8743-6F8FD765FC24}"/>
              </a:ext>
            </a:extLst>
          </p:cNvPr>
          <p:cNvSpPr/>
          <p:nvPr/>
        </p:nvSpPr>
        <p:spPr>
          <a:xfrm>
            <a:off x="8204200" y="30734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D6245F-0C4D-A9D2-49E7-B4B0800AF6F6}"/>
              </a:ext>
            </a:extLst>
          </p:cNvPr>
          <p:cNvSpPr txBox="1"/>
          <p:nvPr/>
        </p:nvSpPr>
        <p:spPr>
          <a:xfrm>
            <a:off x="8204200" y="3200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 b="1">
                <a:solidFill>
                  <a:srgbClr val="11234B"/>
                </a:solidFill>
                <a:latin typeface="Aptos" panose="020B0004020202020204" pitchFamily="34" charset="0"/>
              </a:rPr>
              <a:t>MESSAGE BROKER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DC5598-1BA8-9E54-0EEC-0D5F0887FD58}"/>
              </a:ext>
            </a:extLst>
          </p:cNvPr>
          <p:cNvSpPr txBox="1"/>
          <p:nvPr/>
        </p:nvSpPr>
        <p:spPr>
          <a:xfrm>
            <a:off x="8204200" y="34671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536582"/>
                </a:solidFill>
                <a:latin typeface="Aptos" panose="020B0004020202020204" pitchFamily="34" charset="0"/>
              </a:rPr>
              <a:t>Routes asynchronous jobs between services. Redis Streams provides consumer groups, acknowledgments and recovery tracking.</a:t>
            </a:r>
            <a:endParaRPr lang="en-IN" sz="8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9916B6-3077-3B78-7C6C-79DFB924C401}"/>
              </a:ext>
            </a:extLst>
          </p:cNvPr>
          <p:cNvSpPr txBox="1"/>
          <p:nvPr/>
        </p:nvSpPr>
        <p:spPr>
          <a:xfrm>
            <a:off x="8204200" y="40259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750" b="1">
                <a:solidFill>
                  <a:srgbClr val="2364EB"/>
                </a:solidFill>
                <a:latin typeface="Aptos" panose="020B0004020202020204" pitchFamily="34" charset="0"/>
              </a:rPr>
              <a:t>FastAPI | Redis Streams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797943-112E-19B3-91EF-E97E06A16AFA}"/>
              </a:ext>
            </a:extLst>
          </p:cNvPr>
          <p:cNvSpPr txBox="1"/>
          <p:nvPr/>
        </p:nvSpPr>
        <p:spPr>
          <a:xfrm>
            <a:off x="640080" y="4373880"/>
            <a:ext cx="1076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 dirty="0">
                <a:solidFill>
                  <a:srgbClr val="2364EB"/>
                </a:solidFill>
                <a:latin typeface="Aptos" panose="020B0004020202020204" pitchFamily="34" charset="0"/>
              </a:rPr>
              <a:t>HOW DATA FLOWS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973342B-2879-3B8D-CE35-F11B69910468}"/>
              </a:ext>
            </a:extLst>
          </p:cNvPr>
          <p:cNvSpPr/>
          <p:nvPr/>
        </p:nvSpPr>
        <p:spPr>
          <a:xfrm>
            <a:off x="533400" y="4635500"/>
            <a:ext cx="11125200" cy="179070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B3D871-C3DB-86AF-A535-FFD46CE6F9D9}"/>
              </a:ext>
            </a:extLst>
          </p:cNvPr>
          <p:cNvSpPr txBox="1"/>
          <p:nvPr/>
        </p:nvSpPr>
        <p:spPr>
          <a:xfrm>
            <a:off x="711200" y="4762500"/>
            <a:ext cx="1076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CAPTURE &amp; INDEX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DAA5AC-B985-E233-9B63-F2748CEA57CA}"/>
              </a:ext>
            </a:extLst>
          </p:cNvPr>
          <p:cNvSpPr/>
          <p:nvPr/>
        </p:nvSpPr>
        <p:spPr>
          <a:xfrm>
            <a:off x="711200" y="5003800"/>
            <a:ext cx="2026920" cy="317500"/>
          </a:xfrm>
          <a:prstGeom prst="roundRect">
            <a:avLst/>
          </a:prstGeom>
          <a:solidFill>
            <a:srgbClr val="EBF4FF"/>
          </a:solidFill>
          <a:ln w="8890">
            <a:solidFill>
              <a:srgbClr val="D2E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Operator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B15BEB-DF16-67DB-9AFA-15364DB70C57}"/>
              </a:ext>
            </a:extLst>
          </p:cNvPr>
          <p:cNvSpPr txBox="1"/>
          <p:nvPr/>
        </p:nvSpPr>
        <p:spPr>
          <a:xfrm>
            <a:off x="2738120" y="50546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FBBE14C-5D63-15CB-E788-825FC2D562E5}"/>
              </a:ext>
            </a:extLst>
          </p:cNvPr>
          <p:cNvSpPr/>
          <p:nvPr/>
        </p:nvSpPr>
        <p:spPr>
          <a:xfrm>
            <a:off x="2839720" y="5003800"/>
            <a:ext cx="2026920" cy="317500"/>
          </a:xfrm>
          <a:prstGeom prst="roundRect">
            <a:avLst/>
          </a:prstGeom>
          <a:solidFill>
            <a:srgbClr val="EBF4FF"/>
          </a:solidFill>
          <a:ln w="8890">
            <a:solidFill>
              <a:srgbClr val="D2E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Broker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9D8616-BA79-8A42-3B73-3AB494DC7F97}"/>
              </a:ext>
            </a:extLst>
          </p:cNvPr>
          <p:cNvSpPr txBox="1"/>
          <p:nvPr/>
        </p:nvSpPr>
        <p:spPr>
          <a:xfrm>
            <a:off x="4866640" y="50546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1B259FB-1DA5-5F1C-E985-11F2DA7BC22E}"/>
              </a:ext>
            </a:extLst>
          </p:cNvPr>
          <p:cNvSpPr/>
          <p:nvPr/>
        </p:nvSpPr>
        <p:spPr>
          <a:xfrm>
            <a:off x="4968240" y="5003800"/>
            <a:ext cx="2026921" cy="317500"/>
          </a:xfrm>
          <a:prstGeom prst="roundRect">
            <a:avLst/>
          </a:prstGeom>
          <a:solidFill>
            <a:srgbClr val="EBF4FF"/>
          </a:solidFill>
          <a:ln w="8890">
            <a:solidFill>
              <a:srgbClr val="D2E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Memory / OCR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9E3581-2577-C55B-FF0A-506047447F44}"/>
              </a:ext>
            </a:extLst>
          </p:cNvPr>
          <p:cNvSpPr txBox="1"/>
          <p:nvPr/>
        </p:nvSpPr>
        <p:spPr>
          <a:xfrm>
            <a:off x="6995161" y="50546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9D5FAEB-F004-6A7B-091D-719303896C6D}"/>
              </a:ext>
            </a:extLst>
          </p:cNvPr>
          <p:cNvSpPr/>
          <p:nvPr/>
        </p:nvSpPr>
        <p:spPr>
          <a:xfrm>
            <a:off x="7096761" y="5003800"/>
            <a:ext cx="2026919" cy="317500"/>
          </a:xfrm>
          <a:prstGeom prst="roundRect">
            <a:avLst/>
          </a:prstGeom>
          <a:solidFill>
            <a:srgbClr val="EBF4FF"/>
          </a:solidFill>
          <a:ln w="8890">
            <a:solidFill>
              <a:srgbClr val="D2E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Engine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71687B-4199-9D8A-FBB7-5378F19DBB84}"/>
              </a:ext>
            </a:extLst>
          </p:cNvPr>
          <p:cNvSpPr txBox="1"/>
          <p:nvPr/>
        </p:nvSpPr>
        <p:spPr>
          <a:xfrm>
            <a:off x="9123680" y="50546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DA2A850-E543-05E3-120A-9E82A492E62F}"/>
              </a:ext>
            </a:extLst>
          </p:cNvPr>
          <p:cNvSpPr/>
          <p:nvPr/>
        </p:nvSpPr>
        <p:spPr>
          <a:xfrm>
            <a:off x="9225280" y="5003800"/>
            <a:ext cx="2026920" cy="317500"/>
          </a:xfrm>
          <a:prstGeom prst="roundRect">
            <a:avLst/>
          </a:prstGeom>
          <a:solidFill>
            <a:srgbClr val="EBF4FF"/>
          </a:solidFill>
          <a:ln w="8890">
            <a:solidFill>
              <a:srgbClr val="D2E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Qdrant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14FBCF-D7EE-BB6D-DFFB-0D514BF7BAC9}"/>
              </a:ext>
            </a:extLst>
          </p:cNvPr>
          <p:cNvSpPr txBox="1"/>
          <p:nvPr/>
        </p:nvSpPr>
        <p:spPr>
          <a:xfrm>
            <a:off x="711200" y="5461000"/>
            <a:ext cx="1076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QUESTION &amp; RESPONSE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7057CDA-581F-5C84-45EF-61F7BB9FD6DF}"/>
              </a:ext>
            </a:extLst>
          </p:cNvPr>
          <p:cNvSpPr/>
          <p:nvPr/>
        </p:nvSpPr>
        <p:spPr>
          <a:xfrm>
            <a:off x="711200" y="5702300"/>
            <a:ext cx="2026920" cy="317500"/>
          </a:xfrm>
          <a:prstGeom prst="roundRect">
            <a:avLst/>
          </a:prstGeom>
          <a:solidFill>
            <a:srgbClr val="E8FAF8"/>
          </a:solidFill>
          <a:ln w="8890">
            <a:solidFill>
              <a:srgbClr val="C3E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B4661A-1A94-74DE-9425-2C3E4377AEC3}"/>
              </a:ext>
            </a:extLst>
          </p:cNvPr>
          <p:cNvSpPr txBox="1"/>
          <p:nvPr/>
        </p:nvSpPr>
        <p:spPr>
          <a:xfrm>
            <a:off x="2738120" y="57531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8F7906-5295-04BB-E504-2CFB1B995B3D}"/>
              </a:ext>
            </a:extLst>
          </p:cNvPr>
          <p:cNvSpPr/>
          <p:nvPr/>
        </p:nvSpPr>
        <p:spPr>
          <a:xfrm>
            <a:off x="2839720" y="5702300"/>
            <a:ext cx="2026920" cy="317500"/>
          </a:xfrm>
          <a:prstGeom prst="roundRect">
            <a:avLst/>
          </a:prstGeom>
          <a:solidFill>
            <a:srgbClr val="E8FAF8"/>
          </a:solidFill>
          <a:ln w="8890">
            <a:solidFill>
              <a:srgbClr val="C3E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Engine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ED7A77-6A36-0CD4-1785-E55D1139E50E}"/>
              </a:ext>
            </a:extLst>
          </p:cNvPr>
          <p:cNvSpPr txBox="1"/>
          <p:nvPr/>
        </p:nvSpPr>
        <p:spPr>
          <a:xfrm>
            <a:off x="4866640" y="57531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CA4AE69-2B79-E25E-74AE-5441DC72A316}"/>
              </a:ext>
            </a:extLst>
          </p:cNvPr>
          <p:cNvSpPr/>
          <p:nvPr/>
        </p:nvSpPr>
        <p:spPr>
          <a:xfrm>
            <a:off x="4968240" y="5702300"/>
            <a:ext cx="2026921" cy="317500"/>
          </a:xfrm>
          <a:prstGeom prst="roundRect">
            <a:avLst/>
          </a:prstGeom>
          <a:solidFill>
            <a:srgbClr val="E8FAF8"/>
          </a:solidFill>
          <a:ln w="8890">
            <a:solidFill>
              <a:srgbClr val="C3E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Memory / Qdrant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7DFFFA-764C-9990-37C4-F742B780664A}"/>
              </a:ext>
            </a:extLst>
          </p:cNvPr>
          <p:cNvSpPr txBox="1"/>
          <p:nvPr/>
        </p:nvSpPr>
        <p:spPr>
          <a:xfrm>
            <a:off x="6995161" y="57531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3B3E5AF-C8FC-4394-41A3-3CFF275C965C}"/>
              </a:ext>
            </a:extLst>
          </p:cNvPr>
          <p:cNvSpPr/>
          <p:nvPr/>
        </p:nvSpPr>
        <p:spPr>
          <a:xfrm>
            <a:off x="7096761" y="5702300"/>
            <a:ext cx="2026919" cy="317500"/>
          </a:xfrm>
          <a:prstGeom prst="roundRect">
            <a:avLst/>
          </a:prstGeom>
          <a:solidFill>
            <a:srgbClr val="E8FAF8"/>
          </a:solidFill>
          <a:ln w="8890">
            <a:solidFill>
              <a:srgbClr val="C3E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AI Model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4A6A75-1B5B-6F54-0DF1-EC02EA7DF8DC}"/>
              </a:ext>
            </a:extLst>
          </p:cNvPr>
          <p:cNvSpPr txBox="1"/>
          <p:nvPr/>
        </p:nvSpPr>
        <p:spPr>
          <a:xfrm>
            <a:off x="9123680" y="5753100"/>
            <a:ext cx="10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900" b="1">
                <a:solidFill>
                  <a:srgbClr val="00BEE1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FCF6D9E-BCB9-6AB3-4ED0-D67EA42E29D4}"/>
              </a:ext>
            </a:extLst>
          </p:cNvPr>
          <p:cNvSpPr/>
          <p:nvPr/>
        </p:nvSpPr>
        <p:spPr>
          <a:xfrm>
            <a:off x="9225280" y="5702300"/>
            <a:ext cx="2026920" cy="317500"/>
          </a:xfrm>
          <a:prstGeom prst="roundRect">
            <a:avLst/>
          </a:prstGeom>
          <a:solidFill>
            <a:srgbClr val="E8FAF8"/>
          </a:solidFill>
          <a:ln w="8890">
            <a:solidFill>
              <a:srgbClr val="C3EB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IN" sz="800" b="1">
                <a:solidFill>
                  <a:srgbClr val="11234B"/>
                </a:solidFill>
                <a:latin typeface="Aptos" panose="020B0004020202020204" pitchFamily="34" charset="0"/>
              </a:rPr>
              <a:t>Response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A7E21D-8F64-39C8-1BB6-5A57EF17753C}"/>
              </a:ext>
            </a:extLst>
          </p:cNvPr>
          <p:cNvSpPr txBox="1"/>
          <p:nvPr/>
        </p:nvSpPr>
        <p:spPr>
          <a:xfrm>
            <a:off x="711200" y="6184900"/>
            <a:ext cx="1076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36582"/>
                </a:solidFill>
                <a:latin typeface="Aptos" panose="020B0004020202020204" pitchFamily="34" charset="0"/>
              </a:rPr>
              <a:t>VAULT: Configuration and encrypted records  |  Scripts: Service startup and health checks</a:t>
            </a:r>
            <a:endParaRPr lang="en-IN" sz="75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C5F67E-7D77-14D4-7F5B-186C5FB32A9D}"/>
              </a:ext>
            </a:extLst>
          </p:cNvPr>
          <p:cNvSpPr txBox="1"/>
          <p:nvPr/>
        </p:nvSpPr>
        <p:spPr>
          <a:xfrm>
            <a:off x="533400" y="66294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536582"/>
                </a:solidFill>
                <a:latin typeface="Aptos" panose="020B0004020202020204" pitchFamily="34" charset="0"/>
              </a:rPr>
              <a:t>DCoders  |  MIRA</a:t>
            </a:r>
          </a:p>
        </p:txBody>
      </p:sp>
    </p:spTree>
    <p:extLst>
      <p:ext uri="{BB962C8B-B14F-4D97-AF65-F5344CB8AC3E}">
        <p14:creationId xmlns:p14="http://schemas.microsoft.com/office/powerpoint/2010/main" val="491519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172286-816B-A4D3-FAED-2FB51E4CACB2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91FB9-0A53-02C2-70DD-6F91243613FE}"/>
              </a:ext>
            </a:extLst>
          </p:cNvPr>
          <p:cNvSpPr txBox="1"/>
          <p:nvPr/>
        </p:nvSpPr>
        <p:spPr>
          <a:xfrm>
            <a:off x="533400" y="254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 b="1">
                <a:solidFill>
                  <a:srgbClr val="2364EB"/>
                </a:solidFill>
                <a:latin typeface="Aptos" panose="020B0004020202020204" pitchFamily="34" charset="0"/>
              </a:rPr>
              <a:t>WHAT'S NEXT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A6B96-C3DD-1B19-1814-BE0DFBA4970E}"/>
              </a:ext>
            </a:extLst>
          </p:cNvPr>
          <p:cNvSpPr txBox="1"/>
          <p:nvPr/>
        </p:nvSpPr>
        <p:spPr>
          <a:xfrm>
            <a:off x="533400" y="5461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500" b="1">
                <a:solidFill>
                  <a:srgbClr val="11234B"/>
                </a:solidFill>
                <a:latin typeface="Aptos" panose="020B0004020202020204" pitchFamily="34" charset="0"/>
              </a:rPr>
              <a:t>Future Scope &amp;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2F08D-2399-EF0D-7001-777BE7CFCC02}"/>
              </a:ext>
            </a:extLst>
          </p:cNvPr>
          <p:cNvSpPr txBox="1"/>
          <p:nvPr/>
        </p:nvSpPr>
        <p:spPr>
          <a:xfrm>
            <a:off x="533400" y="10541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36582"/>
                </a:solidFill>
                <a:latin typeface="Aptos" panose="020B0004020202020204" pitchFamily="34" charset="0"/>
              </a:rPr>
              <a:t>From personal memory to a private, proactive AI that works across your digital life.</a:t>
            </a:r>
            <a:endParaRPr lang="en-IN" sz="110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BFF98D-8D46-B2BF-7E26-51FAAC1D3B86}"/>
              </a:ext>
            </a:extLst>
          </p:cNvPr>
          <p:cNvSpPr/>
          <p:nvPr/>
        </p:nvSpPr>
        <p:spPr>
          <a:xfrm>
            <a:off x="533400" y="1473200"/>
            <a:ext cx="3589867" cy="16764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72EA90-1EAC-8DD2-2924-A885FDAE10BD}"/>
              </a:ext>
            </a:extLst>
          </p:cNvPr>
          <p:cNvSpPr/>
          <p:nvPr/>
        </p:nvSpPr>
        <p:spPr>
          <a:xfrm>
            <a:off x="685800" y="16129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651354-D766-9985-A12A-6AA640477DF1}"/>
              </a:ext>
            </a:extLst>
          </p:cNvPr>
          <p:cNvSpPr txBox="1"/>
          <p:nvPr/>
        </p:nvSpPr>
        <p:spPr>
          <a:xfrm>
            <a:off x="3716867" y="15875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11F24-D48C-FE9A-80B9-A9AA209B84AC}"/>
              </a:ext>
            </a:extLst>
          </p:cNvPr>
          <p:cNvSpPr txBox="1"/>
          <p:nvPr/>
        </p:nvSpPr>
        <p:spPr>
          <a:xfrm>
            <a:off x="685800" y="17526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11234B"/>
                </a:solidFill>
                <a:latin typeface="Aptos" panose="020B0004020202020204" pitchFamily="34" charset="0"/>
              </a:rPr>
              <a:t>On-Device AI &amp; Privacy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E8F64-9184-4338-8904-58FEE729941F}"/>
              </a:ext>
            </a:extLst>
          </p:cNvPr>
          <p:cNvSpPr txBox="1"/>
          <p:nvPr/>
        </p:nvSpPr>
        <p:spPr>
          <a:xfrm>
            <a:off x="685800" y="20701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536582"/>
                </a:solidFill>
                <a:latin typeface="Aptos" panose="020B0004020202020204" pitchFamily="34" charset="0"/>
              </a:rPr>
              <a:t>Run AI locally while protecting personal data.</a:t>
            </a:r>
            <a:endParaRPr lang="en-IN" sz="850" dirty="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E86C-1C27-7FC4-26D8-D8D7872BB43D}"/>
              </a:ext>
            </a:extLst>
          </p:cNvPr>
          <p:cNvSpPr txBox="1"/>
          <p:nvPr/>
        </p:nvSpPr>
        <p:spPr>
          <a:xfrm>
            <a:off x="685800" y="24384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Small models run locally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Private cloud for heavy tasks only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Minimum context or embeddings shared; never raw personal data</a:t>
            </a:r>
            <a:endParaRPr lang="en-IN" sz="800" dirty="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D39F80-0466-F221-1DED-061B60D09F8B}"/>
              </a:ext>
            </a:extLst>
          </p:cNvPr>
          <p:cNvSpPr/>
          <p:nvPr/>
        </p:nvSpPr>
        <p:spPr>
          <a:xfrm>
            <a:off x="4301067" y="1473200"/>
            <a:ext cx="3589866" cy="16764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A1BBFD-9226-9A37-AC47-642F3689BD6F}"/>
              </a:ext>
            </a:extLst>
          </p:cNvPr>
          <p:cNvSpPr/>
          <p:nvPr/>
        </p:nvSpPr>
        <p:spPr>
          <a:xfrm>
            <a:off x="4453467" y="16129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C4B09-7EAE-9CDE-FB72-F1141EEF0AD9}"/>
              </a:ext>
            </a:extLst>
          </p:cNvPr>
          <p:cNvSpPr txBox="1"/>
          <p:nvPr/>
        </p:nvSpPr>
        <p:spPr>
          <a:xfrm>
            <a:off x="7484533" y="15875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B7898B-BBCA-9070-1FE4-97F46E404BBC}"/>
              </a:ext>
            </a:extLst>
          </p:cNvPr>
          <p:cNvSpPr txBox="1"/>
          <p:nvPr/>
        </p:nvSpPr>
        <p:spPr>
          <a:xfrm>
            <a:off x="4453467" y="17526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11234B"/>
                </a:solidFill>
                <a:latin typeface="Aptos" panose="020B0004020202020204" pitchFamily="34" charset="0"/>
              </a:rPr>
              <a:t>System &amp; Voice Automation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8CAD47-958B-7984-B7DA-6A981E26C244}"/>
              </a:ext>
            </a:extLst>
          </p:cNvPr>
          <p:cNvSpPr txBox="1"/>
          <p:nvPr/>
        </p:nvSpPr>
        <p:spPr>
          <a:xfrm>
            <a:off x="4453467" y="20701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536582"/>
                </a:solidFill>
                <a:latin typeface="Aptos" panose="020B0004020202020204" pitchFamily="34" charset="0"/>
              </a:rPr>
              <a:t>Control the computer using natural commands.</a:t>
            </a:r>
            <a:endParaRPr lang="en-IN" sz="850" dirty="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F7E9B-0C74-CF78-248D-204C7DC875AD}"/>
              </a:ext>
            </a:extLst>
          </p:cNvPr>
          <p:cNvSpPr txBox="1"/>
          <p:nvPr/>
        </p:nvSpPr>
        <p:spPr>
          <a:xfrm>
            <a:off x="4453467" y="24384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Operate apps, files and system settings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Execute authorized terminal workflows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Confirm sensitive actions with the user</a:t>
            </a:r>
            <a:endParaRPr lang="en-IN" sz="800" dirty="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6FC159-D5CE-D557-4966-082C93268CF2}"/>
              </a:ext>
            </a:extLst>
          </p:cNvPr>
          <p:cNvSpPr/>
          <p:nvPr/>
        </p:nvSpPr>
        <p:spPr>
          <a:xfrm>
            <a:off x="8068733" y="1473200"/>
            <a:ext cx="3589867" cy="16764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F4DF17-1663-1A02-F663-6D94BFB4B7CE}"/>
              </a:ext>
            </a:extLst>
          </p:cNvPr>
          <p:cNvSpPr/>
          <p:nvPr/>
        </p:nvSpPr>
        <p:spPr>
          <a:xfrm>
            <a:off x="8221133" y="16129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4D9483-1E5F-CB00-4CA6-CA689DB1937F}"/>
              </a:ext>
            </a:extLst>
          </p:cNvPr>
          <p:cNvSpPr txBox="1"/>
          <p:nvPr/>
        </p:nvSpPr>
        <p:spPr>
          <a:xfrm>
            <a:off x="11252200" y="15875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EAB209-503B-0B22-5C3D-80A5B3B53E3B}"/>
              </a:ext>
            </a:extLst>
          </p:cNvPr>
          <p:cNvSpPr txBox="1"/>
          <p:nvPr/>
        </p:nvSpPr>
        <p:spPr>
          <a:xfrm>
            <a:off x="8221133" y="17526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11234B"/>
                </a:solidFill>
                <a:latin typeface="Aptos" panose="020B0004020202020204" pitchFamily="34" charset="0"/>
              </a:rPr>
              <a:t>Browser &amp; Web Agent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CE357-D157-414C-5362-9C45D88DDC94}"/>
              </a:ext>
            </a:extLst>
          </p:cNvPr>
          <p:cNvSpPr txBox="1"/>
          <p:nvPr/>
        </p:nvSpPr>
        <p:spPr>
          <a:xfrm>
            <a:off x="8221133" y="20701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536582"/>
                </a:solidFill>
                <a:latin typeface="Aptos" panose="020B0004020202020204" pitchFamily="34" charset="0"/>
              </a:rPr>
              <a:t>Automate everyday work across the web.</a:t>
            </a:r>
            <a:endParaRPr lang="en-IN" sz="850" dirty="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3110ED-F24B-EC0C-66D8-88D228AF94E3}"/>
              </a:ext>
            </a:extLst>
          </p:cNvPr>
          <p:cNvSpPr txBox="1"/>
          <p:nvPr/>
        </p:nvSpPr>
        <p:spPr>
          <a:xfrm>
            <a:off x="8221133" y="24384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Manage email and online workflows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Research topics and discover videos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Complete web tasks with user approval</a:t>
            </a:r>
            <a:endParaRPr lang="en-IN" sz="800" dirty="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C640E9-6FA0-20A6-6C39-7B1B88E3E427}"/>
              </a:ext>
            </a:extLst>
          </p:cNvPr>
          <p:cNvSpPr/>
          <p:nvPr/>
        </p:nvSpPr>
        <p:spPr>
          <a:xfrm>
            <a:off x="533400" y="3276600"/>
            <a:ext cx="3589867" cy="16764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473D89-FC77-0AAC-04E3-D78F73B45167}"/>
              </a:ext>
            </a:extLst>
          </p:cNvPr>
          <p:cNvSpPr/>
          <p:nvPr/>
        </p:nvSpPr>
        <p:spPr>
          <a:xfrm>
            <a:off x="685800" y="34163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4321D9-72CA-60CB-CA1A-AD7C11C59A89}"/>
              </a:ext>
            </a:extLst>
          </p:cNvPr>
          <p:cNvSpPr txBox="1"/>
          <p:nvPr/>
        </p:nvSpPr>
        <p:spPr>
          <a:xfrm>
            <a:off x="3716867" y="33909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3F23D8-25E5-DEF0-7FAB-F27E8C3FAFA1}"/>
              </a:ext>
            </a:extLst>
          </p:cNvPr>
          <p:cNvSpPr txBox="1"/>
          <p:nvPr/>
        </p:nvSpPr>
        <p:spPr>
          <a:xfrm>
            <a:off x="685800" y="35560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11234B"/>
                </a:solidFill>
                <a:latin typeface="Aptos" panose="020B0004020202020204" pitchFamily="34" charset="0"/>
              </a:rPr>
              <a:t>Career &amp; Learning Agent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E797E5-E6E0-DEB5-CA10-1211EDF1C284}"/>
              </a:ext>
            </a:extLst>
          </p:cNvPr>
          <p:cNvSpPr txBox="1"/>
          <p:nvPr/>
        </p:nvSpPr>
        <p:spPr>
          <a:xfrm>
            <a:off x="685800" y="38735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536582"/>
                </a:solidFill>
                <a:latin typeface="Aptos" panose="020B0004020202020204" pitchFamily="34" charset="0"/>
              </a:rPr>
              <a:t>Support career growth and job opportunities.</a:t>
            </a:r>
            <a:endParaRPr lang="en-IN" sz="850" dirty="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BC50EA-0C64-016E-AAB5-76B2D5AC45AB}"/>
              </a:ext>
            </a:extLst>
          </p:cNvPr>
          <p:cNvSpPr txBox="1"/>
          <p:nvPr/>
        </p:nvSpPr>
        <p:spPr>
          <a:xfrm>
            <a:off x="685800" y="42418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Discover jobs and match user skills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Prepare resumes and track applications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Recommend courses and career development paths</a:t>
            </a:r>
            <a:endParaRPr lang="en-IN" sz="800" dirty="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4729A1-A8F3-5915-5A1F-8678E2A532EE}"/>
              </a:ext>
            </a:extLst>
          </p:cNvPr>
          <p:cNvSpPr/>
          <p:nvPr/>
        </p:nvSpPr>
        <p:spPr>
          <a:xfrm>
            <a:off x="4301067" y="3276600"/>
            <a:ext cx="3589866" cy="16764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D44966-0441-24ED-8F35-237D34EF2A3D}"/>
              </a:ext>
            </a:extLst>
          </p:cNvPr>
          <p:cNvSpPr/>
          <p:nvPr/>
        </p:nvSpPr>
        <p:spPr>
          <a:xfrm>
            <a:off x="4453467" y="34163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293F96-FA89-8D3E-20A8-87D347E8D9FA}"/>
              </a:ext>
            </a:extLst>
          </p:cNvPr>
          <p:cNvSpPr txBox="1"/>
          <p:nvPr/>
        </p:nvSpPr>
        <p:spPr>
          <a:xfrm>
            <a:off x="7484533" y="33909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D5553-228E-44E5-3733-B707C2A9D863}"/>
              </a:ext>
            </a:extLst>
          </p:cNvPr>
          <p:cNvSpPr txBox="1"/>
          <p:nvPr/>
        </p:nvSpPr>
        <p:spPr>
          <a:xfrm>
            <a:off x="4453467" y="35560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11234B"/>
                </a:solidFill>
                <a:latin typeface="Aptos" panose="020B0004020202020204" pitchFamily="34" charset="0"/>
              </a:rPr>
              <a:t>Personal Recommendations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CE36CC-E75E-BD5F-1877-2B46483753D3}"/>
              </a:ext>
            </a:extLst>
          </p:cNvPr>
          <p:cNvSpPr txBox="1"/>
          <p:nvPr/>
        </p:nvSpPr>
        <p:spPr>
          <a:xfrm>
            <a:off x="4453467" y="38735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536582"/>
                </a:solidFill>
                <a:latin typeface="Aptos" panose="020B0004020202020204" pitchFamily="34" charset="0"/>
              </a:rPr>
              <a:t>Learn preferences to suggest relevant content.</a:t>
            </a:r>
            <a:endParaRPr lang="en-IN" sz="850" dirty="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72BAA1-CE50-FF76-92CE-E4BC4ECE4777}"/>
              </a:ext>
            </a:extLst>
          </p:cNvPr>
          <p:cNvSpPr txBox="1"/>
          <p:nvPr/>
        </p:nvSpPr>
        <p:spPr>
          <a:xfrm>
            <a:off x="4453467" y="42418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Recommend movies, music and sports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Discover relevant videos and interests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Adapt suggestions to personal preferences</a:t>
            </a:r>
            <a:endParaRPr lang="en-IN" sz="800" dirty="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DD15B02-F900-7599-D92E-8A98B7356201}"/>
              </a:ext>
            </a:extLst>
          </p:cNvPr>
          <p:cNvSpPr/>
          <p:nvPr/>
        </p:nvSpPr>
        <p:spPr>
          <a:xfrm>
            <a:off x="8068733" y="3276600"/>
            <a:ext cx="3589867" cy="1676400"/>
          </a:xfrm>
          <a:prstGeom prst="roundRect">
            <a:avLst/>
          </a:prstGeom>
          <a:solidFill>
            <a:srgbClr val="F6F9FF"/>
          </a:solidFill>
          <a:ln w="10160">
            <a:solidFill>
              <a:srgbClr val="DCE7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30A0CD-6DF1-C0E3-AC08-A8C1AE41D014}"/>
              </a:ext>
            </a:extLst>
          </p:cNvPr>
          <p:cNvSpPr/>
          <p:nvPr/>
        </p:nvSpPr>
        <p:spPr>
          <a:xfrm>
            <a:off x="8221133" y="3416300"/>
            <a:ext cx="355600" cy="38100"/>
          </a:xfrm>
          <a:prstGeom prst="rect">
            <a:avLst/>
          </a:prstGeom>
          <a:solidFill>
            <a:srgbClr val="00BE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116C88-4D49-0757-97EB-680181C3CA84}"/>
              </a:ext>
            </a:extLst>
          </p:cNvPr>
          <p:cNvSpPr txBox="1"/>
          <p:nvPr/>
        </p:nvSpPr>
        <p:spPr>
          <a:xfrm>
            <a:off x="11252200" y="33909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 b="1">
                <a:solidFill>
                  <a:srgbClr val="2364EB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6C9C37-190A-5A5D-1509-F5F6A4F3B911}"/>
              </a:ext>
            </a:extLst>
          </p:cNvPr>
          <p:cNvSpPr txBox="1"/>
          <p:nvPr/>
        </p:nvSpPr>
        <p:spPr>
          <a:xfrm>
            <a:off x="8221133" y="35560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50" b="1">
                <a:solidFill>
                  <a:srgbClr val="11234B"/>
                </a:solidFill>
                <a:latin typeface="Aptos" panose="020B0004020202020204" pitchFamily="34" charset="0"/>
              </a:rPr>
              <a:t>Connected Ecosystem &amp; Sync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316077-CC96-B6C1-5900-6AA4E5FD1647}"/>
              </a:ext>
            </a:extLst>
          </p:cNvPr>
          <p:cNvSpPr txBox="1"/>
          <p:nvPr/>
        </p:nvSpPr>
        <p:spPr>
          <a:xfrm>
            <a:off x="8221133" y="38735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536582"/>
                </a:solidFill>
                <a:latin typeface="Aptos" panose="020B0004020202020204" pitchFamily="34" charset="0"/>
              </a:rPr>
              <a:t>Connect tools and synchronize personal memory.</a:t>
            </a:r>
            <a:endParaRPr lang="en-IN" sz="850" dirty="0">
              <a:solidFill>
                <a:srgbClr val="536582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EA61F5-41B4-D211-9DA3-62E8D5145ED0}"/>
              </a:ext>
            </a:extLst>
          </p:cNvPr>
          <p:cNvSpPr txBox="1"/>
          <p:nvPr/>
        </p:nvSpPr>
        <p:spPr>
          <a:xfrm>
            <a:off x="8221133" y="4241800"/>
            <a:ext cx="3285067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Encrypted peer-to-peer device sync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MCP-based tools and service integrations</a:t>
            </a:r>
          </a:p>
          <a:p>
            <a:r>
              <a:rPr lang="en-US" sz="800" dirty="0">
                <a:solidFill>
                  <a:srgbClr val="11234B"/>
                </a:solidFill>
                <a:latin typeface="Aptos" panose="020B0004020202020204" pitchFamily="34" charset="0"/>
              </a:rPr>
              <a:t>Extend MIRA with community-built skills</a:t>
            </a:r>
            <a:endParaRPr lang="en-IN" sz="800" dirty="0">
              <a:solidFill>
                <a:srgbClr val="11234B"/>
              </a:solidFill>
              <a:latin typeface="Aptos" panose="020B00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7E028E6-5463-39BA-288B-1BF573B2511B}"/>
              </a:ext>
            </a:extLst>
          </p:cNvPr>
          <p:cNvSpPr/>
          <p:nvPr/>
        </p:nvSpPr>
        <p:spPr>
          <a:xfrm>
            <a:off x="494072" y="6198114"/>
            <a:ext cx="11125200" cy="317500"/>
          </a:xfrm>
          <a:prstGeom prst="roundRect">
            <a:avLst/>
          </a:prstGeom>
          <a:solidFill>
            <a:srgbClr val="EBF3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74F351-2690-0B61-9AE1-DE5934680BAA}"/>
              </a:ext>
            </a:extLst>
          </p:cNvPr>
          <p:cNvSpPr txBox="1"/>
          <p:nvPr/>
        </p:nvSpPr>
        <p:spPr>
          <a:xfrm>
            <a:off x="621072" y="6296339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 dirty="0">
                <a:solidFill>
                  <a:srgbClr val="2364EB"/>
                </a:solidFill>
                <a:latin typeface="Aptos" panose="020B0004020202020204" pitchFamily="34" charset="0"/>
              </a:rPr>
              <a:t>ROADMAP:  Local AI  </a:t>
            </a:r>
            <a:r>
              <a:rPr lang="en-US" sz="900" b="1" dirty="0">
                <a:solidFill>
                  <a:srgbClr val="2364EB"/>
                </a:solidFill>
                <a:latin typeface="Aptos" panose="020B0004020202020204" pitchFamily="34" charset="0"/>
              </a:rPr>
              <a:t>→</a:t>
            </a:r>
            <a:r>
              <a:rPr lang="en-US" sz="800" b="1" dirty="0">
                <a:solidFill>
                  <a:srgbClr val="2364EB"/>
                </a:solidFill>
                <a:latin typeface="Aptos" panose="020B0004020202020204" pitchFamily="34" charset="0"/>
              </a:rPr>
              <a:t>  System Automation  </a:t>
            </a:r>
            <a:r>
              <a:rPr lang="en-US" sz="900" b="1" dirty="0">
                <a:solidFill>
                  <a:srgbClr val="2364EB"/>
                </a:solidFill>
                <a:latin typeface="Aptos" panose="020B0004020202020204" pitchFamily="34" charset="0"/>
              </a:rPr>
              <a:t>→</a:t>
            </a:r>
            <a:r>
              <a:rPr lang="en-US" sz="800" b="1" dirty="0">
                <a:solidFill>
                  <a:srgbClr val="2364EB"/>
                </a:solidFill>
                <a:latin typeface="Aptos" panose="020B0004020202020204" pitchFamily="34" charset="0"/>
              </a:rPr>
              <a:t>  Web Agent  </a:t>
            </a:r>
            <a:r>
              <a:rPr lang="en-US" sz="900" b="1" dirty="0">
                <a:solidFill>
                  <a:srgbClr val="2364EB"/>
                </a:solidFill>
                <a:latin typeface="Aptos" panose="020B0004020202020204" pitchFamily="34" charset="0"/>
              </a:rPr>
              <a:t>→</a:t>
            </a:r>
            <a:r>
              <a:rPr lang="en-US" sz="800" b="1" dirty="0">
                <a:solidFill>
                  <a:srgbClr val="2364EB"/>
                </a:solidFill>
                <a:latin typeface="Aptos" panose="020B0004020202020204" pitchFamily="34" charset="0"/>
              </a:rPr>
              <a:t>  Career Growth  </a:t>
            </a:r>
            <a:r>
              <a:rPr lang="en-US" sz="900" b="1" dirty="0">
                <a:solidFill>
                  <a:srgbClr val="2364EB"/>
                </a:solidFill>
                <a:latin typeface="Aptos" panose="020B0004020202020204" pitchFamily="34" charset="0"/>
              </a:rPr>
              <a:t>→</a:t>
            </a:r>
            <a:r>
              <a:rPr lang="en-US" sz="800" b="1" dirty="0">
                <a:solidFill>
                  <a:srgbClr val="2364EB"/>
                </a:solidFill>
                <a:latin typeface="Aptos" panose="020B0004020202020204" pitchFamily="34" charset="0"/>
              </a:rPr>
              <a:t>  Personal Intelligence  </a:t>
            </a:r>
            <a:r>
              <a:rPr lang="en-US" sz="900" b="1" dirty="0">
                <a:solidFill>
                  <a:srgbClr val="2364EB"/>
                </a:solidFill>
                <a:latin typeface="Aptos" panose="020B0004020202020204" pitchFamily="34" charset="0"/>
              </a:rPr>
              <a:t>→</a:t>
            </a:r>
            <a:r>
              <a:rPr lang="en-US" sz="800" b="1" dirty="0">
                <a:solidFill>
                  <a:srgbClr val="2364EB"/>
                </a:solidFill>
                <a:latin typeface="Aptos" panose="020B0004020202020204" pitchFamily="34" charset="0"/>
              </a:rPr>
              <a:t>  Connected Ecosystem</a:t>
            </a:r>
            <a:endParaRPr lang="en-IN" sz="800" b="1" dirty="0">
              <a:solidFill>
                <a:srgbClr val="2364EB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6C2E02-0C77-B5FA-A8E1-79B70FFB8105}"/>
              </a:ext>
            </a:extLst>
          </p:cNvPr>
          <p:cNvSpPr txBox="1"/>
          <p:nvPr/>
        </p:nvSpPr>
        <p:spPr>
          <a:xfrm>
            <a:off x="533400" y="6654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800">
                <a:solidFill>
                  <a:srgbClr val="536582"/>
                </a:solidFill>
                <a:latin typeface="Aptos" panose="020B0004020202020204" pitchFamily="34" charset="0"/>
              </a:rPr>
              <a:t>DCoders  |  MIRA</a:t>
            </a:r>
          </a:p>
        </p:txBody>
      </p:sp>
    </p:spTree>
    <p:extLst>
      <p:ext uri="{BB962C8B-B14F-4D97-AF65-F5344CB8AC3E}">
        <p14:creationId xmlns:p14="http://schemas.microsoft.com/office/powerpoint/2010/main" val="52908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ED277A-C7F2-20AB-FDAC-00C5EAA09ADF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36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581FD-05F6-8E29-75C4-A4537C989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355601"/>
            <a:ext cx="11226800" cy="41562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3CFB1F-42CE-FA92-F051-85AEA85FF408}"/>
              </a:ext>
            </a:extLst>
          </p:cNvPr>
          <p:cNvSpPr/>
          <p:nvPr/>
        </p:nvSpPr>
        <p:spPr>
          <a:xfrm>
            <a:off x="609600" y="4800600"/>
            <a:ext cx="10972800" cy="19050"/>
          </a:xfrm>
          <a:prstGeom prst="rect">
            <a:avLst/>
          </a:prstGeom>
          <a:solidFill>
            <a:srgbClr val="DCE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6276B-2E0D-61CC-313A-C1D43CDC0D68}"/>
              </a:ext>
            </a:extLst>
          </p:cNvPr>
          <p:cNvSpPr txBox="1"/>
          <p:nvPr/>
        </p:nvSpPr>
        <p:spPr>
          <a:xfrm>
            <a:off x="609600" y="504063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500" b="1">
                <a:solidFill>
                  <a:srgbClr val="11234B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09F58-EFE9-89BF-A2A0-93A899F736F0}"/>
              </a:ext>
            </a:extLst>
          </p:cNvPr>
          <p:cNvSpPr txBox="1"/>
          <p:nvPr/>
        </p:nvSpPr>
        <p:spPr>
          <a:xfrm>
            <a:off x="609600" y="5486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100">
                <a:solidFill>
                  <a:srgbClr val="536582"/>
                </a:solidFill>
                <a:latin typeface="Aptos" panose="020B0004020202020204" pitchFamily="34" charset="0"/>
              </a:rPr>
              <a:t>DCoders  |  Dhiraj Karangale  |  Vedang Joshi</a:t>
            </a:r>
          </a:p>
        </p:txBody>
      </p:sp>
      <p:sp>
        <p:nvSpPr>
          <p:cNvPr id="8" name="TextBox 7">
            <a:hlinkClick r:id="rId3"/>
            <a:extLst>
              <a:ext uri="{FF2B5EF4-FFF2-40B4-BE49-F238E27FC236}">
                <a16:creationId xmlns:a16="http://schemas.microsoft.com/office/drawing/2014/main" id="{1AA1E2D9-53C8-5616-2298-E8E732EED219}"/>
              </a:ext>
            </a:extLst>
          </p:cNvPr>
          <p:cNvSpPr txBox="1"/>
          <p:nvPr/>
        </p:nvSpPr>
        <p:spPr>
          <a:xfrm>
            <a:off x="609600" y="5829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GitHub: github.com/DhirajKarangale/Mira</a:t>
            </a:r>
          </a:p>
        </p:txBody>
      </p: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186A6820-3C23-872B-E992-97FB5F82625A}"/>
              </a:ext>
            </a:extLst>
          </p:cNvPr>
          <p:cNvSpPr txBox="1"/>
          <p:nvPr/>
        </p:nvSpPr>
        <p:spPr>
          <a:xfrm>
            <a:off x="609600" y="610362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2364EB"/>
                </a:solidFill>
                <a:latin typeface="Aptos" panose="020B0004020202020204" pitchFamily="34" charset="0"/>
              </a:rPr>
              <a:t>YouTube: Watch MIRA Demo</a:t>
            </a:r>
          </a:p>
        </p:txBody>
      </p:sp>
    </p:spTree>
    <p:extLst>
      <p:ext uri="{BB962C8B-B14F-4D97-AF65-F5344CB8AC3E}">
        <p14:creationId xmlns:p14="http://schemas.microsoft.com/office/powerpoint/2010/main" val="426248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155</TotalTime>
  <Words>823</Words>
  <Application>Microsoft Office PowerPoint</Application>
  <PresentationFormat>Widescreen</PresentationFormat>
  <Paragraphs>179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Dhiraj Karangale</dc:creator>
  <cp:lastModifiedBy>Dhiraj Karangale</cp:lastModifiedBy>
  <cp:revision>29</cp:revision>
  <dcterms:created xsi:type="dcterms:W3CDTF">2026-10-28T11:06:30Z</dcterms:created>
  <dcterms:modified xsi:type="dcterms:W3CDTF">2026-10-28T15:49:00Z</dcterms:modified>
</cp:coreProperties>
</file>